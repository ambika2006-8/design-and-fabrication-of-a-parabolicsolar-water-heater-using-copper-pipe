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09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" y="-19329"/>
            <a:ext cx="9144000" cy="514350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240" y="4397926"/>
            <a:ext cx="9144000" cy="754380"/>
          </a:xfrm>
          <a:prstGeom prst="rect">
            <a:avLst/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480560"/>
            <a:ext cx="856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                                                                                                                     TEAM - 9 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2473" y="218471"/>
            <a:ext cx="653312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DESIGN AND FABRICATION OF A PARABOLIC</a:t>
            </a:r>
            <a:endParaRPr lang="en-IN" sz="40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SOLAR WATER HEATER </a:t>
            </a:r>
          </a:p>
          <a:p>
            <a:r>
              <a:rPr lang="en-US" sz="4000" b="1" dirty="0">
                <a:solidFill>
                  <a:schemeClr val="bg1"/>
                </a:solidFill>
              </a:rPr>
              <a:t>USING COPPER PIPE</a:t>
            </a:r>
            <a:endParaRPr lang="en-IN" sz="4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4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80160"/>
            <a:ext cx="2743200" cy="2286000"/>
          </a:xfrm>
          <a:prstGeom prst="rect">
            <a:avLst/>
          </a:prstGeom>
        </p:spPr>
      </p:pic>
      <p:sp>
        <p:nvSpPr>
          <p:cNvPr id="8" name="Text 2">
            <a:extLst>
              <a:ext uri="{FF2B5EF4-FFF2-40B4-BE49-F238E27FC236}">
                <a16:creationId xmlns:a16="http://schemas.microsoft.com/office/drawing/2014/main" id="{742B858B-7F80-4C26-7308-2C876FC52068}"/>
              </a:ext>
            </a:extLst>
          </p:cNvPr>
          <p:cNvSpPr txBox="1"/>
          <p:nvPr/>
        </p:nvSpPr>
        <p:spPr>
          <a:xfrm>
            <a:off x="457200" y="288739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</a:t>
            </a:r>
            <a:endParaRPr lang="en-US" sz="1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5EB0972-D2CD-E429-9E6A-59601539FA83}"/>
              </a:ext>
            </a:extLst>
          </p:cNvPr>
          <p:cNvSpPr txBox="1"/>
          <p:nvPr/>
        </p:nvSpPr>
        <p:spPr>
          <a:xfrm>
            <a:off x="457200" y="3235569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BHUVANAN M   |   ARAVINTH R   |   AMBIKA B   |   DHARANESHWARAN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And Fabrication of a Parabolic Solar Water Heater Using Copper Pipe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618042"/>
            <a:ext cx="3840481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Objective: </a:t>
            </a:r>
            <a:r>
              <a:rPr lang="en-US" sz="16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design and fabricate a mechanically operated solar water heater that heats water using concentrated solar radiation without sensors, electronics or electrical heaters.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Solution: </a:t>
            </a:r>
            <a:r>
              <a:rPr lang="en-US" sz="16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parabolic trough reflector (wooden frame, curved metal sheet, aluminium reflective sheet) concentrating sunlight onto a copper pipe positioned at the 73 mm focal line.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51176C-4E2C-D0CD-1EC6-2444BEAC29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2" r="7070"/>
          <a:stretch>
            <a:fillRect/>
          </a:stretch>
        </p:blipFill>
        <p:spPr bwMode="auto">
          <a:xfrm>
            <a:off x="4420346" y="2103119"/>
            <a:ext cx="2062974" cy="1913025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E6993F-5261-03F3-7404-3FCAA768894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6" t="26244" r="10547" b="9008"/>
          <a:stretch>
            <a:fillRect/>
          </a:stretch>
        </p:blipFill>
        <p:spPr bwMode="auto">
          <a:xfrm>
            <a:off x="7140728" y="2103119"/>
            <a:ext cx="1728952" cy="185790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F115E472-D7E6-800F-7E40-C527B965A734}"/>
              </a:ext>
            </a:extLst>
          </p:cNvPr>
          <p:cNvSpPr/>
          <p:nvPr/>
        </p:nvSpPr>
        <p:spPr>
          <a:xfrm>
            <a:off x="6594831" y="2826602"/>
            <a:ext cx="385832" cy="2903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Methodology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90445BD-86EE-C66F-4DF1-CF06F5DC1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26"/>
          <a:stretch>
            <a:fillRect/>
          </a:stretch>
        </p:blipFill>
        <p:spPr bwMode="auto">
          <a:xfrm>
            <a:off x="1574975" y="1264251"/>
            <a:ext cx="5628289" cy="38792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Table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28600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77840" y="1325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74320" y="1874520"/>
            <a:ext cx="859536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874520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Parabolic Reflector Design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286000" y="1874520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Determine focal length using x2 = 4fy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577840" y="1874520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Focal point fixed at 73 mm above the vertex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74320" y="2496312"/>
            <a:ext cx="859536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49631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Wooden Frame Fabrication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286000" y="2496312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Wood cut and shaped to the parabolic template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577840" y="2496312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Structural rigidity and correct curvature maintained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74320" y="3118104"/>
            <a:ext cx="859536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118104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Reflective Sheet Installation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286000" y="3118104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Aluminium foil sheet fixed over the metal surface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577840" y="3118104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Maximizes reflection of sunlight toward the focal region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74320" y="3739896"/>
            <a:ext cx="8595360" cy="59436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739896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Copper Pipe Positioning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286000" y="3739896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 mounted at the focal line with adjustable supports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577840" y="3739896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Concentrated solar radiation directly heats the pipe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74320" y="4361688"/>
            <a:ext cx="8595360" cy="59436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4361688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Temperature Logging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286000" y="4361688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Inlet and outlet water temperatures measured at intervals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577840" y="4361688"/>
            <a:ext cx="32461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used to compute heat gain and thermal efficiency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Activities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Study: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solar thermal collectors, parabolic trough geometry, and copper-receiver heat transfer performance.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Fabrication: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wooden-frame parabolic trough with curved metal sheet, aluminium reflective surface, and copper pipe receiver.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Point Calibration: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and adjusted the copper pipe at the calculated 73 mm focal distance using pipe-support brackets.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Analysis: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inlet/outlet water temperatures across trials; computed useful heat gain and thermal efficiency.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 Precedence Table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320" y="1325880"/>
            <a:ext cx="859536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Activity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6032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Preceded By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6320" y="13258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74320" y="1965960"/>
            <a:ext cx="859536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Reflector Fabrication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5603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and Geometry Calculation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46320" y="1965960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Construction starts after focal length and profile are finalized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74320" y="2679192"/>
            <a:ext cx="859536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679192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Copper Pipe Installation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60320" y="2679192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Reflector Fabrication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846320" y="2679192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 mounted only after the reflector structure is complete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74320" y="3392424"/>
            <a:ext cx="859536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3392424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Outdoor Testing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560320" y="3392424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Copper Pipe Installation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46320" y="3392424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begins once the pipe is positioned at the focal 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74320" y="4105656"/>
            <a:ext cx="8595360" cy="685800"/>
          </a:xfrm>
          <a:prstGeom prst="rect">
            <a:avLst/>
          </a:prstGeom>
          <a:solidFill>
            <a:srgbClr val="EEF4FF"/>
          </a:solidFill>
          <a:ln w="12700">
            <a:solidFill>
              <a:srgbClr val="BBCD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105656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Analysis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560320" y="4105656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Outdoor Testing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846320" y="4105656"/>
            <a:ext cx="39319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Thermal performance calculated after sufficient trial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Glossary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Solar Concentration: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80360" y="1371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Focusing incident solar radiation onto a smaller receiver area using a reflective surface.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74320" y="1984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Parabolic Reflector: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880360" y="19842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curved surface following a parabolic profile that reflects parallel rays to a common focal point.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74320" y="25968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Focal Point: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880360" y="259689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Point on the axis of symmetry at which reflected solar radiation converges.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74320" y="32095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Copper Pipe (Receiver):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880360" y="32095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Absorbs concentrated radiation and transfers heat to flowing water; high conductivity (~385 W/m.K).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7432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Thermal Efficiency: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880360" y="3822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Ratio of useful heat gained by the water to the total incident solar energy on the aperture.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Aperture Area: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2880360" y="4434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Effective area of the reflector that intercepts and collects incident solar radiation.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INSTITUTE OF TECHNOLOGY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Principles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274320" y="1417320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1371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Transfer (Conduction &amp; Convection): 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03320" y="137160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 heats the copper pipe wall by conduction; heat is transferred to flowing water by convection.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" y="2304288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22585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Geometry (Parabola): 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03320" y="2258568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incident rays reflect toward a single focal point, per the parabolic equation x2 = 4fy.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74320" y="3191256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314553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Concentration: 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03320" y="3145536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aperture area concentrates solar energy onto a small receiver, raising its temperature above ambient levels.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74320" y="4078224"/>
            <a:ext cx="73152" cy="54864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03250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Resistance: 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703320" y="4032504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copper wall and high conductivity keep conduction resistance low; convective resistance inside the pipe governs heat transfer.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Concept Rules and Laws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Parabolic Equation: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x2 = 4fy — defines the reflector curvature; focal length f = 73 mm generates the wooden templates.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Useful Heat Gain: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 = m x Cp x Delta T — quantifies the heat absorbed by water between inlet and outlet.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Thermal Efficiency Rule: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 = Qdot / (I x A) — ratio of useful thermal power to incident solar power on the aperture.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Heat Loss Rule: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Q_loss = h x As x (Tp - Ta) — convective losses increase with pipe surface temperature and wind exposure.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Focal Sensitivity Principle: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Receiver displacement beyond about 15 mm from the true focal line causes significant performance loss.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Equations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Logic Model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solidFill>
            <a:srgbClr val="E8F0FE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Solar Radiation  &gt;&gt;  Parabolic Reflector  &gt;&gt;  Focal Concentration  &gt;&gt;  Copper Pipe  &gt;&gt;  Hot Water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74320" y="246888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Solar Heat Gain: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 = m x Cp x Delta T   (m = mass of water; Cp = specific heat 4186 J/kg.K; Delta T = Tout - Tin)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Thermal Efficiency: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eta = Qdot / (I x A)   (Qdot = useful thermal power; I = solar irradiance; A = aperture area)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Parabolic Equation: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x2 = 4fy  --  f = 73 mm defines the reflector curvature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</a:t>
            </a: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Delta T up to 22 degree C observed (60 min exposure); confirms effective solar concentration and heat transfer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What-If Analysis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74320" y="1371600"/>
            <a:ext cx="8595360" cy="749808"/>
          </a:xfrm>
          <a:prstGeom prst="rect">
            <a:avLst/>
          </a:prstGeom>
          <a:solidFill>
            <a:srgbClr val="EEF4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1408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Q1: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1520" y="140817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solar irradiance is low (cloudy)?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31520" y="17556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Useful heat gain decreases proportionally; a longer exposure time is needed to reach the target temperature rise.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74320" y="2258568"/>
            <a:ext cx="8595360" cy="749808"/>
          </a:xfrm>
          <a:prstGeom prst="rect">
            <a:avLst/>
          </a:prstGeom>
          <a:solidFill>
            <a:srgbClr val="F8FB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2295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Q2: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31520" y="22951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the copper pipe is misaligned from the focal line?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31520" y="264261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Reflected rays miss the receiver; performance drops sharply beyond about 15 mm of displacement.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74320" y="3145536"/>
            <a:ext cx="8595360" cy="749808"/>
          </a:xfrm>
          <a:prstGeom prst="rect">
            <a:avLst/>
          </a:prstGeom>
          <a:solidFill>
            <a:srgbClr val="EEF4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Q3: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31520" y="3182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wind speed increases?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31520" y="35295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Convective heat loss from the pipe surface increases, reducing net useful heat gain at constant irradiance.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74320" y="4032504"/>
            <a:ext cx="8595360" cy="749808"/>
          </a:xfrm>
          <a:prstGeom prst="rect">
            <a:avLst/>
          </a:prstGeom>
          <a:solidFill>
            <a:srgbClr val="F8FBFF"/>
          </a:solidFill>
          <a:ln w="6350">
            <a:solidFill>
              <a:srgbClr val="1557B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Q4: 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31520" y="40690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3D7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if the reflective sheet develops wrinkles?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731520" y="4416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Rays scatter instead of concentrating; focal intensity drops, reducing the water temperature rise.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w="12700">
            <a:solidFill>
              <a:srgbClr val="155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KNOWLEDGE INSTITUTE OF TECHNOLOGY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"/>
            <a:ext cx="6858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4360"/>
            <a:ext cx="9144000" cy="0"/>
          </a:xfrm>
          <a:prstGeom prst="line">
            <a:avLst/>
          </a:prstGeom>
          <a:noFill/>
          <a:ln w="19050">
            <a:solidFill>
              <a:srgbClr val="2E75D4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5029200" y="1371600"/>
            <a:ext cx="36576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71531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57B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3B0E19-FF44-AE23-A9F6-8F2422608621}"/>
              </a:ext>
            </a:extLst>
          </p:cNvPr>
          <p:cNvSpPr txBox="1"/>
          <p:nvPr/>
        </p:nvSpPr>
        <p:spPr>
          <a:xfrm>
            <a:off x="921835" y="1440113"/>
            <a:ext cx="709254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designed and fabricated a mechanically operated parabolic solar water heater using a copper pipe receiver. The parabolic reflector concentrates sunlight onto the focal region, increasing the pipe temperature and transferring heat to the flowing water. The system is simple, low-cost, and operates without electricity, sensors, or electronic components. The prototype demonstrates the potential of solar concentration for small-scale water heating applications. Future improvements can include better reflective materials, insulation, accurate focal positioning, and sun-tracking mechanisms to improve thermal efficiency.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4" name="Google Shape;314;p14">
            <a:extLst>
              <a:ext uri="{FF2B5EF4-FFF2-40B4-BE49-F238E27FC236}">
                <a16:creationId xmlns:a16="http://schemas.microsoft.com/office/drawing/2014/main" id="{218533FC-2AAD-20EA-FDBA-7FF80C2F942C}"/>
              </a:ext>
            </a:extLst>
          </p:cNvPr>
          <p:cNvSpPr/>
          <p:nvPr/>
        </p:nvSpPr>
        <p:spPr>
          <a:xfrm>
            <a:off x="229715" y="39090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lang="en-US" sz="2600" b="1" i="1" dirty="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sz="26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1110</Words>
  <Application>Microsoft Office PowerPoint</Application>
  <PresentationFormat>On-screen Show (16:9)</PresentationFormat>
  <Paragraphs>150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Passive Cooling for Home</dc:title>
  <dc:subject>PptxGenJS Presentation</dc:subject>
  <dc:creator>PptxGenJS</dc:creator>
  <cp:lastModifiedBy>AMBIKA B</cp:lastModifiedBy>
  <cp:revision>2</cp:revision>
  <dcterms:created xsi:type="dcterms:W3CDTF">2026-03-27T13:42:01Z</dcterms:created>
  <dcterms:modified xsi:type="dcterms:W3CDTF">2026-09-18T14:35:55Z</dcterms:modified>
</cp:coreProperties>
</file>