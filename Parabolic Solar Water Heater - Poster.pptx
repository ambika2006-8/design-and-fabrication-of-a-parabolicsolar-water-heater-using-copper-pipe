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>
  <p:sldMasterIdLst>
    <p:sldMasterId id="2147483662" r:id="rId1"/>
    <p:sldMasterId id="2147483664" r:id="rId2"/>
  </p:sldMasterIdLst>
  <p:notesMasterIdLst>
    <p:notesMasterId r:id="rId4"/>
  </p:notesMasterIdLst>
  <p:handoutMasterIdLst>
    <p:handoutMasterId r:id="rId5"/>
  </p:handoutMasterIdLst>
  <p:sldIdLst>
    <p:sldId id="259" r:id="rId3"/>
  </p:sldIdLst>
  <p:sldSz cx="21388388" cy="30279975"/>
  <p:notesSz cx="14663738" cy="20926425"/>
  <p:embeddedFontLst>
    <p:embeddedFont>
      <p:font typeface="Rdg Vesta" panose="020B0604020202020204" charset="0"/>
      <p:regular r:id="rId6"/>
      <p:bold r:id="rId7"/>
      <p:italic r:id="rId8"/>
      <p:boldItalic r:id="rId9"/>
    </p:embeddedFont>
  </p:embeddedFont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5pPr>
    <a:lvl6pPr marL="2286000" algn="l" defTabSz="914400" rtl="0" eaLnBrk="1" latinLnBrk="0" hangingPunct="1"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6pPr>
    <a:lvl7pPr marL="2743200" algn="l" defTabSz="914400" rtl="0" eaLnBrk="1" latinLnBrk="0" hangingPunct="1"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7pPr>
    <a:lvl8pPr marL="3200400" algn="l" defTabSz="914400" rtl="0" eaLnBrk="1" latinLnBrk="0" hangingPunct="1"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8pPr>
    <a:lvl9pPr marL="3657600" algn="l" defTabSz="914400" rtl="0" eaLnBrk="1" latinLnBrk="0" hangingPunct="1">
      <a:defRPr sz="1300" kern="1200">
        <a:solidFill>
          <a:schemeClr val="tx1"/>
        </a:solidFill>
        <a:latin typeface="Rdg Vesta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52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6591">
          <p15:clr>
            <a:srgbClr val="A4A3A4"/>
          </p15:clr>
        </p15:guide>
        <p15:guide id="2" pos="461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8473"/>
    <a:srgbClr val="FF0000"/>
    <a:srgbClr val="E6E6E6"/>
    <a:srgbClr val="106D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E2733F-8CB7-4A08-923C-8113DD3728D2}" v="9" dt="2026-08-14T14:31:26.1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1637" y="19"/>
      </p:cViewPr>
      <p:guideLst>
        <p:guide orient="horz"/>
        <p:guide pos="52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6591"/>
        <p:guide pos="461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font" Target="fonts/font2.fntdata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viewProps" Target="viewProps.xml"/><Relationship Id="rId5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4.fntdata"/><Relationship Id="rId1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6354763" cy="1046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8305800" y="0"/>
            <a:ext cx="6354763" cy="1046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19877088"/>
            <a:ext cx="6354763" cy="1046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8305800" y="19877088"/>
            <a:ext cx="6354763" cy="1046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4106BD75-3EFD-4C18-B180-068DCC7276B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84212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6354763" cy="1049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3246" tIns="101626" rIns="203246" bIns="101626" numCol="1" anchor="t" anchorCtr="0" compatLnSpc="1">
            <a:prstTxWarp prst="textNoShape">
              <a:avLst/>
            </a:prstTxWarp>
          </a:bodyPr>
          <a:lstStyle>
            <a:lvl1pPr defTabSz="2033588" eaLnBrk="0" hangingPunct="0">
              <a:defRPr sz="27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8305800" y="0"/>
            <a:ext cx="6356350" cy="1049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3246" tIns="101626" rIns="203246" bIns="101626" numCol="1" anchor="t" anchorCtr="0" compatLnSpc="1">
            <a:prstTxWarp prst="textNoShape">
              <a:avLst/>
            </a:prstTxWarp>
          </a:bodyPr>
          <a:lstStyle>
            <a:lvl1pPr algn="r" defTabSz="2033588" eaLnBrk="0" hangingPunct="0">
              <a:defRPr sz="27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64063" y="1570038"/>
            <a:ext cx="5543550" cy="78501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466850" y="9942513"/>
            <a:ext cx="11730038" cy="941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3246" tIns="101626" rIns="203246" bIns="10162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19877088"/>
            <a:ext cx="6354763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3246" tIns="101626" rIns="203246" bIns="101626" numCol="1" anchor="b" anchorCtr="0" compatLnSpc="1">
            <a:prstTxWarp prst="textNoShape">
              <a:avLst/>
            </a:prstTxWarp>
          </a:bodyPr>
          <a:lstStyle>
            <a:lvl1pPr defTabSz="2033588" eaLnBrk="0" hangingPunct="0">
              <a:defRPr sz="27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8305800" y="19877088"/>
            <a:ext cx="6356350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3246" tIns="101626" rIns="203246" bIns="101626" numCol="1" anchor="b" anchorCtr="0" compatLnSpc="1">
            <a:prstTxWarp prst="textNoShape">
              <a:avLst/>
            </a:prstTxWarp>
          </a:bodyPr>
          <a:lstStyle>
            <a:lvl1pPr algn="r" defTabSz="2033588" eaLnBrk="0" hangingPunct="0">
              <a:defRPr sz="2700"/>
            </a:lvl1pPr>
          </a:lstStyle>
          <a:p>
            <a:pPr>
              <a:defRPr/>
            </a:pPr>
            <a:fld id="{5778D20B-1032-4243-B265-D2D63470AEB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75309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78D20B-1032-4243-B265-D2D63470AEBF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80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36600" y="5635625"/>
            <a:ext cx="9344025" cy="23852186"/>
          </a:xfrm>
          <a:prstGeom prst="rect">
            <a:avLst/>
          </a:prstGeom>
        </p:spPr>
        <p:txBody>
          <a:bodyPr/>
          <a:lstStyle>
            <a:lvl1pPr marL="360000" indent="-360000">
              <a:spcBef>
                <a:spcPts val="1400"/>
              </a:spcBef>
              <a:defRPr sz="19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 indent="-360000">
              <a:spcBef>
                <a:spcPts val="1000"/>
              </a:spcBef>
              <a:buFont typeface="Arial" pitchFamily="34" charset="0"/>
              <a:buChar char="•"/>
              <a:defRPr sz="19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 indent="-360000">
              <a:spcBef>
                <a:spcPts val="600"/>
              </a:spcBef>
              <a:buFont typeface="Rdg Vesta" pitchFamily="2" charset="0"/>
              <a:buChar char="−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50000" indent="-270000">
              <a:spcBef>
                <a:spcPts val="500"/>
              </a:spcBef>
              <a:buFont typeface="Arial" pitchFamily="34" charset="0"/>
              <a:buChar char="•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30000" indent="-180000">
              <a:spcBef>
                <a:spcPts val="500"/>
              </a:spcBef>
              <a:buClr>
                <a:schemeClr val="tx2"/>
              </a:buClr>
              <a:buFont typeface="Rdg Vesta" pitchFamily="2" charset="0"/>
              <a:buChar char="−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455613" marR="0" lvl="0" indent="-455613" algn="l" defTabSz="2952750" rtl="0" eaLnBrk="1" fontAlgn="base" latinLnBrk="0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US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styles</a:t>
            </a:r>
          </a:p>
          <a:p>
            <a:pPr marL="455613" marR="0" lvl="1" indent="-455613" algn="l" defTabSz="2952750" rtl="0" eaLnBrk="1" fontAlgn="base" latinLnBrk="0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US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455613" marR="0" lvl="2" indent="-455613" algn="l" defTabSz="2952750" rtl="0" eaLnBrk="1" fontAlgn="base" latinLnBrk="0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US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455613" marR="0" lvl="3" indent="-455613" algn="l" defTabSz="2952750" rtl="0" eaLnBrk="1" fontAlgn="base" latinLnBrk="0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US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6732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7" userDrawn="1">
          <p15:clr>
            <a:srgbClr val="FBAE40"/>
          </p15:clr>
        </p15:guide>
        <p15:guide id="2" pos="673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EF963AC-AD21-4E43-A16C-AB75B1463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5635625"/>
            <a:ext cx="9344025" cy="23852186"/>
          </a:xfrm>
          <a:prstGeom prst="rect">
            <a:avLst/>
          </a:prstGeom>
        </p:spPr>
        <p:txBody>
          <a:bodyPr/>
          <a:lstStyle>
            <a:lvl1pPr marL="360000" indent="-360000">
              <a:spcBef>
                <a:spcPts val="1400"/>
              </a:spcBef>
              <a:defRPr sz="19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 indent="-360000">
              <a:spcBef>
                <a:spcPts val="1000"/>
              </a:spcBef>
              <a:buFont typeface="Arial" pitchFamily="34" charset="0"/>
              <a:buChar char="•"/>
              <a:defRPr sz="19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 indent="-360000">
              <a:spcBef>
                <a:spcPts val="600"/>
              </a:spcBef>
              <a:buFont typeface="Rdg Vesta" pitchFamily="2" charset="0"/>
              <a:buChar char="−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50000" indent="-270000">
              <a:spcBef>
                <a:spcPts val="500"/>
              </a:spcBef>
              <a:buFont typeface="Arial" pitchFamily="34" charset="0"/>
              <a:buChar char="•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30000" indent="-180000">
              <a:spcBef>
                <a:spcPts val="500"/>
              </a:spcBef>
              <a:buClr>
                <a:schemeClr val="tx2"/>
              </a:buClr>
              <a:buFont typeface="Rdg Vesta" pitchFamily="2" charset="0"/>
              <a:buChar char="−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455613" marR="0" lvl="0" indent="-455613" algn="l" defTabSz="2952750" rtl="0" eaLnBrk="1" fontAlgn="base" latinLnBrk="0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styles</a:t>
            </a:r>
          </a:p>
          <a:p>
            <a:pPr marL="1000125" marR="0" lvl="1" indent="-457200" algn="l" defTabSz="2952750" rtl="0" eaLnBrk="1" fontAlgn="base" latinLnBrk="0" hangingPunct="1">
              <a:lnSpc>
                <a:spcPct val="125000"/>
              </a:lnSpc>
              <a:spcBef>
                <a:spcPct val="4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1331913" marR="0" lvl="2" indent="-342900" algn="l" defTabSz="2952750" rtl="0" eaLnBrk="1" fontAlgn="base" latinLnBrk="0" hangingPunct="1">
              <a:lnSpc>
                <a:spcPct val="125000"/>
              </a:lnSpc>
              <a:spcBef>
                <a:spcPct val="3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644650" marR="0" lvl="3" indent="-301625" algn="l" defTabSz="2952750" rtl="0" eaLnBrk="1" fontAlgn="base" latinLnBrk="0" hangingPunct="1">
              <a:lnSpc>
                <a:spcPct val="125000"/>
              </a:lnSpc>
              <a:spcBef>
                <a:spcPct val="40000"/>
              </a:spcBef>
              <a:spcAft>
                <a:spcPct val="0"/>
              </a:spcAft>
              <a:buClr>
                <a:srgbClr val="158473"/>
              </a:buClr>
              <a:buSzTx/>
              <a:buFontTx/>
              <a:buChar char="•"/>
              <a:tabLst/>
              <a:defRPr/>
            </a:pPr>
            <a:r>
              <a:rPr kumimoji="0" lang="en-GB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123904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Rectangle 33"/>
          <p:cNvSpPr>
            <a:spLocks noChangeArrowheads="1"/>
          </p:cNvSpPr>
          <p:nvPr/>
        </p:nvSpPr>
        <p:spPr bwMode="auto">
          <a:xfrm>
            <a:off x="0" y="0"/>
            <a:ext cx="21388388" cy="51689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/>
          </a:p>
        </p:txBody>
      </p:sp>
      <p:sp>
        <p:nvSpPr>
          <p:cNvPr id="1062" name="Text Box 38"/>
          <p:cNvSpPr txBox="1">
            <a:spLocks noChangeArrowheads="1"/>
          </p:cNvSpPr>
          <p:nvPr/>
        </p:nvSpPr>
        <p:spPr bwMode="auto">
          <a:xfrm>
            <a:off x="668338" y="4338787"/>
            <a:ext cx="19962812" cy="545143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lIns="91436" tIns="45717" rIns="91436" bIns="45717">
            <a:spAutoFit/>
          </a:bodyPr>
          <a:lstStyle/>
          <a:p>
            <a:pPr defTabSz="912813" eaLnBrk="0" hangingPunct="0">
              <a:lnSpc>
                <a:spcPct val="110000"/>
              </a:lnSpc>
              <a:defRPr/>
            </a:pPr>
            <a:r>
              <a:rPr lang="en-GB" sz="29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BHUVANAN M   </a:t>
            </a:r>
            <a:r>
              <a:rPr lang="en-GB" sz="290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GB" sz="29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ARAVINTH R   </a:t>
            </a:r>
            <a:r>
              <a:rPr lang="en-GB" sz="290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GB" sz="29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AMBIKA B </a:t>
            </a:r>
            <a:r>
              <a:rPr lang="en-GB" sz="290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GB" sz="29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DHARANESHWARAN B </a:t>
            </a:r>
            <a:endParaRPr lang="en-GB" sz="20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8" name="Rectangle 39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6600" y="5635625"/>
            <a:ext cx="9344025" cy="2383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pic>
        <p:nvPicPr>
          <p:cNvPr id="1029" name="Picture 34" descr="KIOT Device Reversed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03775" y="792163"/>
            <a:ext cx="3148013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736600" y="1350963"/>
            <a:ext cx="20131088" cy="298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</a:p>
        </p:txBody>
      </p:sp>
      <p:sp>
        <p:nvSpPr>
          <p:cNvPr id="1067" name="Rectangle 43"/>
          <p:cNvSpPr>
            <a:spLocks noChangeArrowheads="1"/>
          </p:cNvSpPr>
          <p:nvPr/>
        </p:nvSpPr>
        <p:spPr bwMode="auto">
          <a:xfrm>
            <a:off x="0" y="0"/>
            <a:ext cx="21388388" cy="3027997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2952750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268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 b="1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2pPr>
      <a:lvl3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3pPr>
      <a:lvl4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4pPr>
      <a:lvl5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5pPr>
      <a:lvl6pPr marL="4572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6pPr>
      <a:lvl7pPr marL="9144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7pPr>
      <a:lvl8pPr marL="13716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8pPr>
      <a:lvl9pPr marL="18288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9pPr>
    </p:titleStyle>
    <p:bodyStyle>
      <a:lvl1pPr marL="455613" indent="-455613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lr>
          <a:schemeClr val="tx2"/>
        </a:buClr>
        <a:buChar char="•"/>
        <a:defRPr sz="26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000125" indent="-457200" algn="l" defTabSz="2952750" rtl="0" eaLnBrk="1" fontAlgn="base" hangingPunct="1">
        <a:lnSpc>
          <a:spcPct val="125000"/>
        </a:lnSpc>
        <a:spcBef>
          <a:spcPct val="40000"/>
        </a:spcBef>
        <a:spcAft>
          <a:spcPct val="0"/>
        </a:spcAft>
        <a:buClr>
          <a:schemeClr val="tx2"/>
        </a:buClr>
        <a:buChar char="•"/>
        <a:defRPr sz="26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marL="1331913" indent="-342900" algn="l" defTabSz="2952750" rtl="0" eaLnBrk="1" fontAlgn="base" hangingPunct="1">
        <a:lnSpc>
          <a:spcPct val="125000"/>
        </a:lnSpc>
        <a:spcBef>
          <a:spcPct val="30000"/>
        </a:spcBef>
        <a:spcAft>
          <a:spcPct val="0"/>
        </a:spcAft>
        <a:buClr>
          <a:schemeClr val="tx2"/>
        </a:buClr>
        <a:buChar char="•"/>
        <a:defRPr sz="22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marL="1644650" indent="-301625" algn="l" defTabSz="2952750" rtl="0" eaLnBrk="1" fontAlgn="base" hangingPunct="1">
        <a:lnSpc>
          <a:spcPct val="125000"/>
        </a:lnSpc>
        <a:spcBef>
          <a:spcPct val="4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marL="25622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30194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34766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9338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43910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537" userDrawn="1">
          <p15:clr>
            <a:srgbClr val="F26B43"/>
          </p15:clr>
        </p15:guide>
        <p15:guide id="2" pos="673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Rectangle 33"/>
          <p:cNvSpPr>
            <a:spLocks noChangeArrowheads="1"/>
          </p:cNvSpPr>
          <p:nvPr/>
        </p:nvSpPr>
        <p:spPr bwMode="auto">
          <a:xfrm>
            <a:off x="0" y="0"/>
            <a:ext cx="21388388" cy="51689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/>
          </a:p>
        </p:txBody>
      </p:sp>
      <p:sp>
        <p:nvSpPr>
          <p:cNvPr id="1062" name="Text Box 38"/>
          <p:cNvSpPr txBox="1">
            <a:spLocks noChangeArrowheads="1"/>
          </p:cNvSpPr>
          <p:nvPr/>
        </p:nvSpPr>
        <p:spPr bwMode="auto">
          <a:xfrm>
            <a:off x="668338" y="4533900"/>
            <a:ext cx="19962812" cy="545143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lIns="91436" tIns="45717" rIns="91436" bIns="45717">
            <a:spAutoFit/>
          </a:bodyPr>
          <a:lstStyle/>
          <a:p>
            <a:pPr defTabSz="912813" eaLnBrk="0" hangingPunct="0">
              <a:lnSpc>
                <a:spcPct val="110000"/>
              </a:lnSpc>
              <a:defRPr/>
            </a:pPr>
            <a:r>
              <a:rPr lang="en-GB" sz="29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 1   </a:t>
            </a:r>
            <a:r>
              <a:rPr lang="en-GB" sz="290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GB" sz="29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Author 2   </a:t>
            </a:r>
            <a:r>
              <a:rPr lang="en-GB" sz="290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GB" sz="29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Author 3   (edit this list via View &gt; Slide Master)</a:t>
            </a:r>
            <a:endParaRPr lang="en-GB" sz="20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8" name="Rectangle 39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6600" y="5635625"/>
            <a:ext cx="9344025" cy="2383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pic>
        <p:nvPicPr>
          <p:cNvPr id="1029" name="Picture 34" descr="KIOT Device Reversed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03775" y="792163"/>
            <a:ext cx="3148013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736600" y="1350963"/>
            <a:ext cx="20131088" cy="298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</a:p>
        </p:txBody>
      </p:sp>
      <p:sp>
        <p:nvSpPr>
          <p:cNvPr id="1061" name="Text Box 37"/>
          <p:cNvSpPr txBox="1">
            <a:spLocks noChangeArrowheads="1"/>
          </p:cNvSpPr>
          <p:nvPr/>
        </p:nvSpPr>
        <p:spPr bwMode="auto">
          <a:xfrm>
            <a:off x="736600" y="792163"/>
            <a:ext cx="104616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912813" eaLnBrk="0" hangingPunct="0">
              <a:spcBef>
                <a:spcPct val="50000"/>
              </a:spcBef>
              <a:defRPr/>
            </a:pPr>
            <a:r>
              <a:rPr lang="en-GB" sz="23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unit name via </a:t>
            </a:r>
            <a:br>
              <a:rPr lang="en-GB" sz="23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3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 &gt; Slide Master</a:t>
            </a:r>
          </a:p>
        </p:txBody>
      </p:sp>
      <p:sp>
        <p:nvSpPr>
          <p:cNvPr id="1067" name="Rectangle 43"/>
          <p:cNvSpPr>
            <a:spLocks noChangeArrowheads="1"/>
          </p:cNvSpPr>
          <p:nvPr/>
        </p:nvSpPr>
        <p:spPr bwMode="auto">
          <a:xfrm>
            <a:off x="0" y="0"/>
            <a:ext cx="21388388" cy="3027997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2952750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540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 b="1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2pPr>
      <a:lvl3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3pPr>
      <a:lvl4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4pPr>
      <a:lvl5pPr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5pPr>
      <a:lvl6pPr marL="4572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6pPr>
      <a:lvl7pPr marL="9144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7pPr>
      <a:lvl8pPr marL="13716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8pPr>
      <a:lvl9pPr marL="1828800" algn="l" defTabSz="2952750" rtl="0" eaLnBrk="1" fontAlgn="base" hangingPunct="1">
        <a:lnSpc>
          <a:spcPct val="105000"/>
        </a:lnSpc>
        <a:spcBef>
          <a:spcPct val="60000"/>
        </a:spcBef>
        <a:spcAft>
          <a:spcPct val="0"/>
        </a:spcAft>
        <a:defRPr sz="8100">
          <a:solidFill>
            <a:schemeClr val="bg1"/>
          </a:solidFill>
          <a:latin typeface="Rdg Vesta" pitchFamily="2" charset="0"/>
        </a:defRPr>
      </a:lvl9pPr>
    </p:titleStyle>
    <p:bodyStyle>
      <a:lvl1pPr marL="455613" indent="-455613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lr>
          <a:schemeClr val="tx2"/>
        </a:buClr>
        <a:buChar char="•"/>
        <a:defRPr sz="26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000125" indent="-457200" algn="l" defTabSz="2952750" rtl="0" eaLnBrk="1" fontAlgn="base" hangingPunct="1">
        <a:lnSpc>
          <a:spcPct val="125000"/>
        </a:lnSpc>
        <a:spcBef>
          <a:spcPct val="40000"/>
        </a:spcBef>
        <a:spcAft>
          <a:spcPct val="0"/>
        </a:spcAft>
        <a:buClr>
          <a:schemeClr val="tx2"/>
        </a:buClr>
        <a:buChar char="•"/>
        <a:defRPr sz="26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marL="1331913" indent="-342900" algn="l" defTabSz="2952750" rtl="0" eaLnBrk="1" fontAlgn="base" hangingPunct="1">
        <a:lnSpc>
          <a:spcPct val="125000"/>
        </a:lnSpc>
        <a:spcBef>
          <a:spcPct val="30000"/>
        </a:spcBef>
        <a:spcAft>
          <a:spcPct val="0"/>
        </a:spcAft>
        <a:buClr>
          <a:schemeClr val="tx2"/>
        </a:buClr>
        <a:buChar char="•"/>
        <a:defRPr sz="22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marL="1644650" indent="-301625" algn="l" defTabSz="2952750" rtl="0" eaLnBrk="1" fontAlgn="base" hangingPunct="1">
        <a:lnSpc>
          <a:spcPct val="125000"/>
        </a:lnSpc>
        <a:spcBef>
          <a:spcPct val="4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marL="25622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30194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34766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9338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4391025" indent="-738188" algn="l" defTabSz="2952750" rtl="0" eaLnBrk="1" fontAlgn="base" hangingPunct="1">
        <a:lnSpc>
          <a:spcPct val="125000"/>
        </a:lnSpc>
        <a:spcBef>
          <a:spcPct val="6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mailto:2k23me013@kiot.ac.in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kiot.ac.in/" TargetMode="External"/><Relationship Id="rId5" Type="http://schemas.openxmlformats.org/officeDocument/2006/relationships/hyperlink" Target="mailto:2k23me020@kiot.ac.in" TargetMode="External"/><Relationship Id="rId4" Type="http://schemas.openxmlformats.org/officeDocument/2006/relationships/hyperlink" Target="mailto:2k23me006@kiot.ac.in" TargetMode="External"/><Relationship Id="rId9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323850" y="5166840"/>
            <a:ext cx="10077450" cy="2383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446088" indent="-446088">
              <a:spcBef>
                <a:spcPts val="0"/>
              </a:spcBef>
              <a:buNone/>
            </a:pPr>
            <a:r>
              <a:rPr lang="en-GB" sz="2400" b="1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Abstract</a:t>
            </a: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Rising demand for hot water in homes and small businesses has increased dependence on electrical and fuel-based water heaters, raising cost and</a:t>
            </a: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emissions. This project designs and fabricates a mechanically operated parabolic solar water heater that concentrates sunlight to heat water</a:t>
            </a: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using a copper pipe. A wooden-frame parabolic trough (focal length 73 mm) reflects incident solar radiation onto the pipe, raising its</a:t>
            </a: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temperature and transferring heat to the water flowing inside. Across outdoor trials, water temperature rose by up to 22 </a:t>
            </a:r>
            <a:r>
              <a:rPr lang="en-IN" sz="1200" dirty="0" err="1">
                <a:latin typeface="+mn-lt"/>
              </a:rPr>
              <a:t>deg</a:t>
            </a:r>
            <a:r>
              <a:rPr lang="en-IN" sz="1200" dirty="0">
                <a:latin typeface="+mn-lt"/>
              </a:rPr>
              <a:t> C</a:t>
            </a: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in a single 60-minute trial, confirming solar concentration as a simple, low-cost, renewable alternative for domestic water heating.</a:t>
            </a:r>
            <a:endParaRPr lang="en-GB" sz="1200" dirty="0">
              <a:latin typeface="+mn-lt"/>
            </a:endParaRP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GB" sz="2400" b="1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  <a:p>
            <a:pPr marL="358775" indent="-358775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Conventional water heating depends mainly on electricity or fuel, increasing running cost and consuming non-renewable resources, and many existing</a:t>
            </a:r>
          </a:p>
          <a:p>
            <a:pPr marL="358775" indent="-358775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solar water heaters use complex collectors, insulation, pumps and controllers that raise cost and maintenance requirements.</a:t>
            </a:r>
          </a:p>
          <a:p>
            <a:pPr marL="358775" indent="-358775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There is a need for a simple mechanical solar heater that demonstrates concentrated solar heating using easily available materials.</a:t>
            </a:r>
            <a:endParaRPr lang="en-GB" sz="1200" dirty="0">
              <a:latin typeface="+mn-lt"/>
            </a:endParaRPr>
          </a:p>
          <a:p>
            <a:pPr marL="358775" indent="-358775">
              <a:spcBef>
                <a:spcPts val="600"/>
              </a:spcBef>
              <a:buNone/>
            </a:pPr>
            <a:r>
              <a:rPr lang="en-GB" sz="2400" b="1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 for the Project</a:t>
            </a:r>
          </a:p>
          <a:p>
            <a:pPr marL="358775" indent="-358775">
              <a:spcBef>
                <a:spcPts val="600"/>
              </a:spcBef>
              <a:buNone/>
            </a:pPr>
            <a:r>
              <a:rPr lang="en-IN" sz="1200" dirty="0">
                <a:latin typeface="+mj-lt"/>
              </a:rPr>
              <a:t>The project demonstrates a renewable, low-cost water heating alternative that cuts electrical and fuel consumption while teaching solar</a:t>
            </a:r>
          </a:p>
          <a:p>
            <a:pPr marL="358775" indent="-358775">
              <a:spcBef>
                <a:spcPts val="600"/>
              </a:spcBef>
              <a:buNone/>
            </a:pPr>
            <a:r>
              <a:rPr lang="en-IN" sz="1200" dirty="0">
                <a:latin typeface="+mj-lt"/>
              </a:rPr>
              <a:t>concentration, heat transfer and mechanical design principles, trading tracking precision for simplicity and affordability in fabrication. </a:t>
            </a:r>
          </a:p>
          <a:p>
            <a:pPr marL="358775" indent="-358775">
              <a:spcBef>
                <a:spcPts val="600"/>
              </a:spcBef>
              <a:buNone/>
            </a:pPr>
            <a:r>
              <a:rPr lang="en-GB" sz="2400" b="1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Objectives</a:t>
            </a:r>
          </a:p>
          <a:p>
            <a:pPr marL="714375" indent="-357375">
              <a:spcBef>
                <a:spcPts val="600"/>
              </a:spcBef>
              <a:buFont typeface="Arial" pitchFamily="34" charset="0"/>
              <a:buChar char="•"/>
            </a:pP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 a parabolic reflector to concentrate solar radiation onto a fixed focal line. </a:t>
            </a:r>
          </a:p>
          <a:p>
            <a:pPr marL="714375" indent="-357375">
              <a:spcBef>
                <a:spcPts val="600"/>
              </a:spcBef>
              <a:buFont typeface="Arial" pitchFamily="34" charset="0"/>
              <a:buChar char="•"/>
            </a:pP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Position a copper pipe at the calculated focal point (f = 73 mm) to absorb concentrated heat. </a:t>
            </a:r>
          </a:p>
          <a:p>
            <a:pPr marL="714375" indent="-357375">
              <a:spcBef>
                <a:spcPts val="600"/>
              </a:spcBef>
              <a:buFont typeface="Arial" pitchFamily="34" charset="0"/>
              <a:buChar char="•"/>
            </a:pP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Fabricate a low-cost mechanical prototype using wood, sheet metal and reflective sheet  no electronics. </a:t>
            </a:r>
          </a:p>
          <a:p>
            <a:pPr marL="714375" indent="-357375">
              <a:spcBef>
                <a:spcPts val="600"/>
              </a:spcBef>
              <a:buFont typeface="Arial" pitchFamily="34" charset="0"/>
              <a:buChar char="•"/>
            </a:pP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Experimentally evaluate water temperature rise and thermal efficiency under real solar exposure.</a:t>
            </a: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58775" indent="-358775">
              <a:spcBef>
                <a:spcPts val="600"/>
              </a:spcBef>
              <a:buNone/>
            </a:pPr>
            <a:r>
              <a:rPr lang="en-GB" sz="2400" b="1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Components and Materials</a:t>
            </a:r>
          </a:p>
          <a:p>
            <a:pPr>
              <a:lnSpc>
                <a:spcPct val="150000"/>
              </a:lnSpc>
              <a:spcBef>
                <a:spcPts val="900"/>
              </a:spcBef>
            </a:pPr>
            <a:r>
              <a:rPr lang="en-IN" sz="1200" b="1" dirty="0">
                <a:latin typeface="+mn-lt"/>
              </a:rPr>
              <a:t>Reflector &amp; Frame: </a:t>
            </a:r>
            <a:r>
              <a:rPr lang="en-IN" sz="1200" dirty="0">
                <a:latin typeface="+mn-lt"/>
              </a:rPr>
              <a:t>Wooden supporting structure, curved metal sheet, aluminium reflective sheet, base/support arrangement, fasteners, adhesive/fixing material. </a:t>
            </a:r>
          </a:p>
          <a:p>
            <a:pPr>
              <a:spcBef>
                <a:spcPts val="900"/>
              </a:spcBef>
            </a:pPr>
            <a:r>
              <a:rPr lang="en-IN" sz="1200" b="1" dirty="0">
                <a:latin typeface="+mn-lt"/>
              </a:rPr>
              <a:t>Receiver &amp; Fittings: </a:t>
            </a:r>
            <a:r>
              <a:rPr lang="en-IN" sz="1200" dirty="0">
                <a:latin typeface="+mn-lt"/>
              </a:rPr>
              <a:t>Copper pipe (receiver), pipe support brackets, water inlet connection, water outlet connection.</a:t>
            </a:r>
            <a:endParaRPr lang="en-GB" sz="1200" dirty="0">
              <a:latin typeface="+mn-lt"/>
            </a:endParaRPr>
          </a:p>
          <a:p>
            <a:pPr>
              <a:spcBef>
                <a:spcPts val="900"/>
              </a:spcBef>
            </a:pPr>
            <a:r>
              <a:rPr lang="en-GB" sz="2400" b="1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 / Workflow</a:t>
            </a:r>
          </a:p>
          <a:p>
            <a:pPr marL="358775" indent="-358775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Literature Review → Problem Definition &amp; Objectives → Parabolic Geometry &amp; Focal Length Calculation → Reflector Design → Material Selection</a:t>
            </a:r>
          </a:p>
          <a:p>
            <a:pPr marL="358775" indent="-358775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→ Wooden Frame &amp; Reflector Fabrication → Copper Pipe Installation → Outdoor Testing → Results &amp; Analysis → Conclusion &amp; Future Scope</a:t>
            </a:r>
            <a:endParaRPr lang="en-GB" sz="1200" dirty="0">
              <a:latin typeface="+mn-lt"/>
            </a:endParaRPr>
          </a:p>
          <a:p>
            <a:pPr marL="358775" indent="-358775">
              <a:spcBef>
                <a:spcPts val="600"/>
              </a:spcBef>
              <a:buNone/>
            </a:pPr>
            <a:r>
              <a:rPr lang="en-GB" sz="2400" b="1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Working Principle</a:t>
            </a:r>
            <a:endParaRPr lang="en-GB"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8775" indent="-358775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Sunlight falling on the aluminium-foil reflective surface is reflected toward the parabolic trough’s focal line, following the profile x2 = 4fy</a:t>
            </a:r>
          </a:p>
          <a:p>
            <a:pPr marL="358775" indent="-358775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with focal length f = 73 mm. The copper pipe positioned at this focal line absorbs the concentrated radiation and its temperature rises.</a:t>
            </a:r>
          </a:p>
          <a:p>
            <a:pPr marL="358775" indent="-358775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Heat conducts through the copper pipe wall and transfers by convection to the water flowing inside — a fully mechanical process with</a:t>
            </a:r>
          </a:p>
          <a:p>
            <a:pPr marL="358775" indent="-358775">
              <a:spcBef>
                <a:spcPts val="600"/>
              </a:spcBef>
            </a:pPr>
            <a:r>
              <a:rPr lang="en-IN" sz="1200" dirty="0">
                <a:latin typeface="+mn-lt"/>
              </a:rPr>
              <a:t>no sensors, electronic controllers or electrical heating elements involved at any stage.</a:t>
            </a:r>
            <a:endParaRPr lang="en-GB" sz="120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  <a:p>
            <a:pPr marL="358775" indent="-358775">
              <a:spcBef>
                <a:spcPts val="600"/>
              </a:spcBef>
            </a:pPr>
            <a:r>
              <a:rPr lang="en-IN" sz="2400" b="1" spc="-10" dirty="0">
                <a:solidFill>
                  <a:srgbClr val="158473"/>
                </a:solidFill>
                <a:latin typeface="Calibri"/>
                <a:cs typeface="Calibri"/>
              </a:rPr>
              <a:t>System</a:t>
            </a:r>
            <a:r>
              <a:rPr lang="en-IN" sz="2400" b="1" spc="-70" dirty="0">
                <a:solidFill>
                  <a:srgbClr val="158473"/>
                </a:solidFill>
                <a:latin typeface="Calibri"/>
                <a:cs typeface="Calibri"/>
              </a:rPr>
              <a:t> </a:t>
            </a:r>
            <a:r>
              <a:rPr lang="en-IN" sz="2400" b="1" spc="-10" dirty="0">
                <a:solidFill>
                  <a:srgbClr val="158473"/>
                </a:solidFill>
                <a:latin typeface="Calibri"/>
                <a:cs typeface="Calibri"/>
              </a:rPr>
              <a:t>Architecture</a:t>
            </a:r>
            <a:endParaRPr lang="en-IN" sz="2400" b="1" dirty="0">
              <a:latin typeface="Calibri"/>
              <a:cs typeface="Calibri"/>
            </a:endParaRPr>
          </a:p>
          <a:p>
            <a:pPr marL="358775" indent="-358775">
              <a:spcBef>
                <a:spcPts val="600"/>
              </a:spcBef>
            </a:pPr>
            <a:endParaRPr lang="en-IN" sz="1200" dirty="0">
              <a:latin typeface="+mn-lt"/>
            </a:endParaRPr>
          </a:p>
          <a:p>
            <a:pPr marL="358775" indent="-358775">
              <a:spcBef>
                <a:spcPts val="600"/>
              </a:spcBef>
            </a:pPr>
            <a:endParaRPr lang="en-GB" sz="12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8775" indent="-358775">
              <a:spcBef>
                <a:spcPts val="600"/>
              </a:spcBef>
            </a:pPr>
            <a:endParaRPr lang="en-GB"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8775" indent="-358775">
              <a:spcBef>
                <a:spcPts val="600"/>
              </a:spcBef>
            </a:pPr>
            <a:endParaRPr lang="en-GB"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8775" indent="-358775">
              <a:spcBef>
                <a:spcPts val="600"/>
              </a:spcBef>
            </a:pPr>
            <a:endParaRPr lang="en-GB"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8775" indent="-358775">
              <a:spcBef>
                <a:spcPts val="600"/>
              </a:spcBef>
            </a:pPr>
            <a:endParaRPr lang="en-GB"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8775" indent="-358775">
              <a:spcBef>
                <a:spcPts val="600"/>
              </a:spcBef>
            </a:pPr>
            <a:endParaRPr lang="en-GB"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8775" indent="-358775">
              <a:spcBef>
                <a:spcPts val="600"/>
              </a:spcBef>
            </a:pPr>
            <a:endParaRPr lang="en-GB"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8775" indent="-358775">
              <a:spcBef>
                <a:spcPts val="600"/>
              </a:spcBef>
            </a:pPr>
            <a:r>
              <a:rPr lang="en-GB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CAD Model / Prototype</a:t>
            </a:r>
          </a:p>
          <a:p>
            <a:pPr marL="358775" indent="-358775">
              <a:spcBef>
                <a:spcPts val="600"/>
              </a:spcBef>
            </a:pPr>
            <a:endParaRPr lang="en-GB"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8775" indent="-358775">
              <a:spcBef>
                <a:spcPts val="600"/>
              </a:spcBef>
            </a:pPr>
            <a:endParaRPr lang="en-GB"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8775" indent="-358775">
              <a:spcBef>
                <a:spcPts val="600"/>
              </a:spcBef>
            </a:pPr>
            <a:endParaRPr lang="en-GB"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8775" indent="-358775">
              <a:spcBef>
                <a:spcPts val="600"/>
              </a:spcBef>
            </a:pPr>
            <a:endParaRPr lang="en-GB"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8775" indent="-358775">
              <a:spcBef>
                <a:spcPts val="600"/>
              </a:spcBef>
            </a:pPr>
            <a:endParaRPr lang="en-GB"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8775" indent="-358775">
              <a:spcBef>
                <a:spcPts val="600"/>
              </a:spcBef>
            </a:pPr>
            <a:endParaRPr lang="en-GB"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8775" indent="-358775">
              <a:spcBef>
                <a:spcPts val="600"/>
              </a:spcBef>
            </a:pPr>
            <a:endParaRPr lang="en-GB"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8775" indent="-358775">
              <a:spcBef>
                <a:spcPts val="600"/>
              </a:spcBef>
            </a:pPr>
            <a:endParaRPr lang="en-GB"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8775" indent="-358775">
              <a:spcBef>
                <a:spcPts val="600"/>
              </a:spcBef>
            </a:pPr>
            <a:endParaRPr lang="en-GB"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8775" indent="-358775">
              <a:spcBef>
                <a:spcPts val="600"/>
              </a:spcBef>
            </a:pPr>
            <a:endParaRPr lang="en-GB"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46088" indent="-446088">
              <a:spcBef>
                <a:spcPts val="0"/>
              </a:spcBef>
              <a:buNone/>
            </a:pPr>
            <a:r>
              <a:rPr lang="en-GB" sz="24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Experimental Setup</a:t>
            </a:r>
          </a:p>
          <a:p>
            <a:pPr marL="358775" indent="-358775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The fabricated reflector was positioned outdoors with its aperture oriented toward the sun so that solar radiation fell on the reflective</a:t>
            </a:r>
          </a:p>
          <a:p>
            <a:pPr marL="358775" indent="-358775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surface. Water was supplied to the copper pipe through the inlet, and heated water was collected at the outlet after passing through the pipe.</a:t>
            </a:r>
          </a:p>
          <a:p>
            <a:pPr marL="358775" indent="-358775">
              <a:spcBef>
                <a:spcPts val="600"/>
              </a:spcBef>
              <a:buNone/>
            </a:pPr>
            <a:r>
              <a:rPr lang="en-IN" sz="1200" dirty="0">
                <a:latin typeface="+mn-lt"/>
              </a:rPr>
              <a:t>Inlet and outlet temperatures were recorded at regular intervals across multiple trials and exposure durations.</a:t>
            </a:r>
            <a:endParaRPr lang="en-GB" sz="1200" b="1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05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27" y="1112913"/>
            <a:ext cx="20131088" cy="3766047"/>
          </a:xfrm>
        </p:spPr>
        <p:txBody>
          <a:bodyPr/>
          <a:lstStyle/>
          <a:p>
            <a:r>
              <a:rPr lang="en-US" sz="6600" dirty="0"/>
              <a:t>DESIGN AND FABRICATION OF A PARABOLIC</a:t>
            </a:r>
            <a:br>
              <a:rPr lang="en-IN" sz="6600" dirty="0"/>
            </a:br>
            <a:r>
              <a:rPr lang="en-US" sz="6600" dirty="0"/>
              <a:t>SOLAR WATER HEATER USING COPPER PIPE</a:t>
            </a:r>
            <a:br>
              <a:rPr lang="en-IN" dirty="0"/>
            </a:br>
            <a:endParaRPr lang="en-GB" dirty="0"/>
          </a:p>
        </p:txBody>
      </p:sp>
      <p:sp>
        <p:nvSpPr>
          <p:cNvPr id="2051" name="Text Box 7"/>
          <p:cNvSpPr txBox="1">
            <a:spLocks noChangeArrowheads="1"/>
          </p:cNvSpPr>
          <p:nvPr/>
        </p:nvSpPr>
        <p:spPr bwMode="auto">
          <a:xfrm>
            <a:off x="11091923" y="23308510"/>
            <a:ext cx="9253537" cy="37074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lIns="287990" tIns="179993" rIns="0" bIns="179993">
            <a:spAutoFit/>
          </a:bodyPr>
          <a:lstStyle/>
          <a:p>
            <a:pPr marL="266700" indent="-266700" defTabSz="912813" eaLnBrk="0" hangingPunct="0">
              <a:spcBef>
                <a:spcPts val="1600"/>
              </a:spcBef>
            </a:pPr>
            <a:r>
              <a:rPr lang="en-GB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  <a:p>
            <a:pPr marL="266700" indent="-266700" defTabSz="912813" eaLnBrk="0" hangingPunct="0">
              <a:lnSpc>
                <a:spcPct val="125000"/>
              </a:lnSpc>
              <a:spcBef>
                <a:spcPct val="30000"/>
              </a:spcBef>
              <a:buClr>
                <a:schemeClr val="tx2"/>
              </a:buClr>
              <a:buFontTx/>
              <a:buAutoNum type="arabicPeriod"/>
            </a:pPr>
            <a:r>
              <a:rPr lang="en-IN" sz="1200" dirty="0">
                <a:latin typeface="+mn-lt"/>
              </a:rPr>
              <a:t>Kalogirou, S.A. (2004). Solar thermal collectors and applications. Progress in Energy and Combustion Science, 30(3), 231-295.</a:t>
            </a:r>
          </a:p>
          <a:p>
            <a:pPr marL="266700" indent="-266700" defTabSz="912813" eaLnBrk="0" hangingPunct="0">
              <a:lnSpc>
                <a:spcPct val="125000"/>
              </a:lnSpc>
              <a:spcBef>
                <a:spcPct val="30000"/>
              </a:spcBef>
              <a:buClr>
                <a:schemeClr val="tx2"/>
              </a:buClr>
              <a:buFontTx/>
              <a:buAutoNum type="arabicPeriod"/>
            </a:pPr>
            <a:r>
              <a:rPr lang="en-IN" sz="1200" dirty="0">
                <a:latin typeface="+mn-lt"/>
              </a:rPr>
              <a:t>Duffie, J.A., Beckman, W.A., &amp; Blair, N. (2020). Solar Water Heating, in Solar Engineering of Thermal Processes. Wiley. </a:t>
            </a:r>
          </a:p>
          <a:p>
            <a:pPr marL="266700" indent="-266700" defTabSz="912813" eaLnBrk="0" hangingPunct="0">
              <a:lnSpc>
                <a:spcPct val="125000"/>
              </a:lnSpc>
              <a:spcBef>
                <a:spcPct val="30000"/>
              </a:spcBef>
              <a:buClr>
                <a:schemeClr val="tx2"/>
              </a:buClr>
              <a:buFontTx/>
              <a:buAutoNum type="arabicPeriod"/>
            </a:pPr>
            <a:r>
              <a:rPr lang="en-IN" sz="1200" dirty="0" err="1">
                <a:latin typeface="+mn-lt"/>
              </a:rPr>
              <a:t>Abdulhamed</a:t>
            </a:r>
            <a:r>
              <a:rPr lang="en-IN" sz="1200" dirty="0">
                <a:latin typeface="+mn-lt"/>
              </a:rPr>
              <a:t>, A.J. et al. (2018). Review of solar parabolic-trough collector geometrical and thermal analyses. Renewable and Sustainable Energy Reviews, 91, 822-831. </a:t>
            </a:r>
          </a:p>
          <a:p>
            <a:pPr marL="266700" indent="-266700" defTabSz="912813" eaLnBrk="0" hangingPunct="0">
              <a:lnSpc>
                <a:spcPct val="125000"/>
              </a:lnSpc>
              <a:spcBef>
                <a:spcPct val="30000"/>
              </a:spcBef>
              <a:buClr>
                <a:schemeClr val="tx2"/>
              </a:buClr>
              <a:buFontTx/>
              <a:buAutoNum type="arabicPeriod"/>
            </a:pPr>
            <a:r>
              <a:rPr lang="en-IN" sz="1200" dirty="0">
                <a:latin typeface="+mn-lt"/>
              </a:rPr>
              <a:t>Salgado Conrado, L. et al. (2017). Thermal performance of parabolic trough solar collectors. Renewable and Sustainable Energy Reviews, 67, 1345-1359.</a:t>
            </a:r>
          </a:p>
          <a:p>
            <a:pPr defTabSz="912813" eaLnBrk="0" hangingPunct="0">
              <a:lnSpc>
                <a:spcPct val="125000"/>
              </a:lnSpc>
              <a:spcBef>
                <a:spcPct val="30000"/>
              </a:spcBef>
              <a:buClr>
                <a:schemeClr val="tx2"/>
              </a:buClr>
            </a:pPr>
            <a:r>
              <a:rPr lang="en-GB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</a:t>
            </a:r>
            <a:endParaRPr lang="en-GB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8935" lvl="1" indent="-177800">
              <a:lnSpc>
                <a:spcPct val="100000"/>
              </a:lnSpc>
              <a:spcBef>
                <a:spcPts val="520"/>
              </a:spcBef>
              <a:buClr>
                <a:srgbClr val="158473"/>
              </a:buClr>
              <a:buChar char="•"/>
              <a:tabLst>
                <a:tab pos="368935" algn="l"/>
              </a:tabLst>
            </a:pPr>
            <a:r>
              <a:rPr lang="en-US" sz="1200" dirty="0">
                <a:latin typeface="Arial MT"/>
                <a:cs typeface="Arial MT"/>
              </a:rPr>
              <a:t>We</a:t>
            </a:r>
            <a:r>
              <a:rPr lang="en-US" sz="1200" spc="-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thank</a:t>
            </a:r>
            <a:r>
              <a:rPr lang="en-US" sz="1200" spc="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our</a:t>
            </a:r>
            <a:r>
              <a:rPr lang="en-US" sz="1200" spc="3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project</a:t>
            </a:r>
            <a:r>
              <a:rPr lang="en-US" sz="1200" spc="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guide</a:t>
            </a:r>
            <a:r>
              <a:rPr lang="en-US" sz="1200" spc="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and</a:t>
            </a:r>
            <a:r>
              <a:rPr lang="en-US" sz="1200" spc="3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faculty</a:t>
            </a:r>
            <a:r>
              <a:rPr lang="en-US" sz="1200" spc="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mentors</a:t>
            </a:r>
            <a:r>
              <a:rPr lang="en-US" sz="1200" spc="-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(</a:t>
            </a:r>
            <a:r>
              <a:rPr lang="en-US" sz="1200" b="1" dirty="0">
                <a:latin typeface="Arial"/>
                <a:cs typeface="Arial"/>
              </a:rPr>
              <a:t>Mr.</a:t>
            </a:r>
            <a:r>
              <a:rPr lang="en-US" sz="1200" b="1" spc="-15" dirty="0">
                <a:latin typeface="Arial"/>
                <a:cs typeface="Arial"/>
              </a:rPr>
              <a:t> </a:t>
            </a:r>
            <a:r>
              <a:rPr lang="en-US" sz="1200" b="1" dirty="0">
                <a:latin typeface="Arial"/>
                <a:cs typeface="Arial"/>
              </a:rPr>
              <a:t>A.</a:t>
            </a:r>
            <a:r>
              <a:rPr lang="en-US" sz="1200" b="1" spc="80" dirty="0">
                <a:latin typeface="Arial"/>
                <a:cs typeface="Arial"/>
              </a:rPr>
              <a:t> </a:t>
            </a:r>
            <a:r>
              <a:rPr lang="en-US" sz="1200" b="1" dirty="0">
                <a:latin typeface="Arial"/>
                <a:cs typeface="Arial"/>
              </a:rPr>
              <a:t>Kamalakannan,</a:t>
            </a:r>
            <a:r>
              <a:rPr lang="en-US" sz="1200" b="1" spc="-15" dirty="0">
                <a:latin typeface="Arial"/>
                <a:cs typeface="Arial"/>
              </a:rPr>
              <a:t> </a:t>
            </a:r>
            <a:r>
              <a:rPr lang="en-US" sz="1200" b="1" dirty="0">
                <a:latin typeface="Arial"/>
                <a:cs typeface="Arial"/>
              </a:rPr>
              <a:t>B.E.,</a:t>
            </a:r>
            <a:r>
              <a:rPr lang="en-US" sz="1200" b="1" spc="10" dirty="0">
                <a:latin typeface="Arial"/>
                <a:cs typeface="Arial"/>
              </a:rPr>
              <a:t> </a:t>
            </a:r>
            <a:r>
              <a:rPr lang="en-US" sz="1200" b="1" spc="-20" dirty="0">
                <a:latin typeface="Arial"/>
                <a:cs typeface="Arial"/>
              </a:rPr>
              <a:t>M.E, (</a:t>
            </a:r>
            <a:r>
              <a:rPr lang="en-US" sz="1200" b="1" spc="-20" dirty="0" err="1">
                <a:latin typeface="Arial"/>
                <a:cs typeface="Arial"/>
              </a:rPr>
              <a:t>Ph.D</a:t>
            </a:r>
            <a:r>
              <a:rPr lang="en-US" sz="1200" b="1" spc="-20" dirty="0">
                <a:latin typeface="Arial"/>
                <a:cs typeface="Arial"/>
              </a:rPr>
              <a:t>) </a:t>
            </a:r>
            <a:r>
              <a:rPr lang="en-US" sz="1200" spc="-20" dirty="0">
                <a:latin typeface="Arial MT"/>
                <a:cs typeface="Arial MT"/>
              </a:rPr>
              <a:t>) </a:t>
            </a:r>
            <a:endParaRPr lang="en-US" sz="1200" dirty="0">
              <a:latin typeface="Arial MT"/>
              <a:cs typeface="Arial MT"/>
            </a:endParaRPr>
          </a:p>
          <a:p>
            <a:pPr marL="368935" lvl="1" indent="-177800">
              <a:lnSpc>
                <a:spcPct val="100000"/>
              </a:lnSpc>
              <a:spcBef>
                <a:spcPts val="670"/>
              </a:spcBef>
              <a:buClr>
                <a:srgbClr val="158473"/>
              </a:buClr>
              <a:buChar char="•"/>
              <a:tabLst>
                <a:tab pos="368935" algn="l"/>
              </a:tabLst>
            </a:pPr>
            <a:r>
              <a:rPr lang="en-US" sz="1200" dirty="0">
                <a:latin typeface="Arial MT"/>
                <a:cs typeface="Arial MT"/>
              </a:rPr>
              <a:t>Thanks to</a:t>
            </a:r>
            <a:r>
              <a:rPr lang="en-US" sz="1200" spc="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the</a:t>
            </a:r>
            <a:r>
              <a:rPr lang="en-US" sz="1200" spc="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lab</a:t>
            </a:r>
            <a:r>
              <a:rPr lang="en-US" sz="1200" spc="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staff for</a:t>
            </a:r>
            <a:r>
              <a:rPr lang="en-US" sz="1200" spc="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providing</a:t>
            </a:r>
            <a:r>
              <a:rPr lang="en-US" sz="1200" spc="2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access</a:t>
            </a:r>
            <a:r>
              <a:rPr lang="en-US" sz="1200" spc="-2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to</a:t>
            </a:r>
            <a:r>
              <a:rPr lang="en-US" sz="1200" spc="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components</a:t>
            </a:r>
            <a:r>
              <a:rPr lang="en-US" sz="1200" spc="-1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and</a:t>
            </a:r>
            <a:r>
              <a:rPr lang="en-US" sz="1200" spc="20" dirty="0">
                <a:latin typeface="Arial MT"/>
                <a:cs typeface="Arial MT"/>
              </a:rPr>
              <a:t> </a:t>
            </a:r>
            <a:r>
              <a:rPr lang="en-US" sz="1200" spc="-10" dirty="0">
                <a:latin typeface="Arial MT"/>
                <a:cs typeface="Arial MT"/>
              </a:rPr>
              <a:t>tools.</a:t>
            </a:r>
            <a:endParaRPr lang="en-US" sz="1200" dirty="0">
              <a:latin typeface="Arial MT"/>
              <a:cs typeface="Arial MT"/>
            </a:endParaRPr>
          </a:p>
          <a:p>
            <a:pPr marL="266700" indent="-266700" defTabSz="912813" eaLnBrk="0" hangingPunct="0">
              <a:lnSpc>
                <a:spcPct val="125000"/>
              </a:lnSpc>
              <a:spcBef>
                <a:spcPts val="500"/>
              </a:spcBef>
              <a:buClr>
                <a:schemeClr val="tx2"/>
              </a:buClr>
              <a:buFontTx/>
              <a:buChar char="•"/>
            </a:pPr>
            <a:endParaRPr lang="en-GB" sz="12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2052" name="Text Box 8"/>
          <p:cNvSpPr txBox="1">
            <a:spLocks noChangeArrowheads="1"/>
          </p:cNvSpPr>
          <p:nvPr/>
        </p:nvSpPr>
        <p:spPr bwMode="auto">
          <a:xfrm>
            <a:off x="11091923" y="27411021"/>
            <a:ext cx="9253537" cy="2388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lIns="287990" tIns="179993" rIns="0" bIns="179993" anchor="b">
            <a:spAutoFit/>
          </a:bodyPr>
          <a:lstStyle/>
          <a:p>
            <a:pPr marL="266700" indent="-266700" defTabSz="912813" eaLnBrk="0" hangingPunct="0">
              <a:spcBef>
                <a:spcPts val="1600"/>
              </a:spcBef>
            </a:pPr>
            <a:r>
              <a:rPr lang="en-GB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information</a:t>
            </a:r>
          </a:p>
          <a:p>
            <a:pPr marL="368935" indent="-178435">
              <a:lnSpc>
                <a:spcPct val="100000"/>
              </a:lnSpc>
              <a:spcBef>
                <a:spcPts val="500"/>
              </a:spcBef>
              <a:buClr>
                <a:srgbClr val="158473"/>
              </a:buClr>
              <a:buChar char="•"/>
              <a:tabLst>
                <a:tab pos="368935" algn="l"/>
              </a:tabLst>
            </a:pPr>
            <a:r>
              <a:rPr lang="en-US" sz="1200" dirty="0">
                <a:latin typeface="Arial MT"/>
                <a:cs typeface="Arial MT"/>
              </a:rPr>
              <a:t>Department</a:t>
            </a:r>
            <a:r>
              <a:rPr lang="en-US" sz="1200" spc="5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of</a:t>
            </a:r>
            <a:r>
              <a:rPr lang="en-US" sz="1200" spc="4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Mechanical </a:t>
            </a:r>
            <a:r>
              <a:rPr lang="en-US" sz="1200" spc="-10" dirty="0">
                <a:latin typeface="Arial MT"/>
                <a:cs typeface="Arial MT"/>
              </a:rPr>
              <a:t>Engineering</a:t>
            </a:r>
            <a:endParaRPr lang="en-US" sz="1200" dirty="0">
              <a:latin typeface="Arial MT"/>
              <a:cs typeface="Arial MT"/>
            </a:endParaRPr>
          </a:p>
          <a:p>
            <a:pPr marL="407034" indent="-216535">
              <a:lnSpc>
                <a:spcPct val="100000"/>
              </a:lnSpc>
              <a:spcBef>
                <a:spcPts val="670"/>
              </a:spcBef>
              <a:buClr>
                <a:srgbClr val="158473"/>
              </a:buClr>
              <a:buChar char="•"/>
              <a:tabLst>
                <a:tab pos="407034" algn="l"/>
              </a:tabLst>
            </a:pPr>
            <a:r>
              <a:rPr lang="en-US" sz="1200" dirty="0">
                <a:latin typeface="Arial MT"/>
                <a:cs typeface="Arial MT"/>
              </a:rPr>
              <a:t>Knowledge</a:t>
            </a:r>
            <a:r>
              <a:rPr lang="en-US" sz="1200" spc="10" dirty="0">
                <a:latin typeface="Arial MT"/>
                <a:cs typeface="Arial MT"/>
              </a:rPr>
              <a:t> </a:t>
            </a:r>
            <a:r>
              <a:rPr lang="en-US" sz="1200" dirty="0">
                <a:latin typeface="Arial MT"/>
                <a:cs typeface="Arial MT"/>
              </a:rPr>
              <a:t>Institute of</a:t>
            </a:r>
            <a:r>
              <a:rPr lang="en-US" sz="1200" spc="5" dirty="0">
                <a:latin typeface="Arial MT"/>
                <a:cs typeface="Arial MT"/>
              </a:rPr>
              <a:t> </a:t>
            </a:r>
            <a:r>
              <a:rPr lang="en-US" sz="1200" spc="-20" dirty="0">
                <a:latin typeface="Arial MT"/>
                <a:cs typeface="Arial MT"/>
              </a:rPr>
              <a:t>Technology,</a:t>
            </a:r>
            <a:r>
              <a:rPr lang="en-US" sz="1200" spc="5" dirty="0">
                <a:latin typeface="Arial MT"/>
                <a:cs typeface="Arial MT"/>
              </a:rPr>
              <a:t> </a:t>
            </a:r>
            <a:r>
              <a:rPr lang="en-US" sz="1200" spc="-10" dirty="0">
                <a:latin typeface="Arial MT"/>
                <a:cs typeface="Arial MT"/>
              </a:rPr>
              <a:t>Salem</a:t>
            </a:r>
            <a:endParaRPr lang="en-US" sz="1200" dirty="0">
              <a:latin typeface="Arial MT"/>
              <a:cs typeface="Arial MT"/>
            </a:endParaRPr>
          </a:p>
          <a:p>
            <a:pPr marL="368935" marR="523240" indent="-178435">
              <a:lnSpc>
                <a:spcPct val="126499"/>
              </a:lnSpc>
              <a:spcBef>
                <a:spcPts val="380"/>
              </a:spcBef>
              <a:buClr>
                <a:srgbClr val="158473"/>
              </a:buClr>
              <a:buChar char="•"/>
              <a:tabLst>
                <a:tab pos="368935" algn="l"/>
              </a:tabLst>
            </a:pPr>
            <a:r>
              <a:rPr lang="en-US" sz="1200" dirty="0">
                <a:latin typeface="Arial MT"/>
                <a:cs typeface="Arial MT"/>
              </a:rPr>
              <a:t>Email:</a:t>
            </a:r>
            <a:r>
              <a:rPr lang="en-US" sz="1200" spc="20" dirty="0">
                <a:latin typeface="Arial MT"/>
                <a:cs typeface="Arial MT"/>
              </a:rPr>
              <a:t> </a:t>
            </a:r>
            <a:r>
              <a:rPr lang="en-US" sz="1200" b="1" u="sng" dirty="0">
                <a:solidFill>
                  <a:srgbClr val="158473"/>
                </a:solidFill>
                <a:uFill>
                  <a:solidFill>
                    <a:srgbClr val="158473"/>
                  </a:solidFill>
                </a:uFill>
                <a:latin typeface="Arial"/>
                <a:cs typeface="Arial"/>
                <a:hlinkClick r:id="rId3"/>
              </a:rPr>
              <a:t>2k23me013@kiot.ac.in</a:t>
            </a:r>
            <a:r>
              <a:rPr lang="en-US" sz="1200" b="1" spc="-5" dirty="0">
                <a:solidFill>
                  <a:srgbClr val="158473"/>
                </a:solidFill>
                <a:latin typeface="Arial"/>
                <a:cs typeface="Arial"/>
              </a:rPr>
              <a:t> </a:t>
            </a:r>
            <a:r>
              <a:rPr lang="en-US" sz="1200" b="1" dirty="0">
                <a:solidFill>
                  <a:srgbClr val="158473"/>
                </a:solidFill>
                <a:latin typeface="Arial"/>
                <a:cs typeface="Arial"/>
              </a:rPr>
              <a:t>|</a:t>
            </a:r>
            <a:r>
              <a:rPr lang="en-US" sz="1200" b="1" spc="80" dirty="0">
                <a:solidFill>
                  <a:srgbClr val="158473"/>
                </a:solidFill>
                <a:latin typeface="Arial"/>
                <a:cs typeface="Arial"/>
              </a:rPr>
              <a:t> </a:t>
            </a:r>
            <a:r>
              <a:rPr lang="en-US" sz="1200" b="1" u="sng" dirty="0">
                <a:solidFill>
                  <a:srgbClr val="158473"/>
                </a:solidFill>
                <a:uFill>
                  <a:solidFill>
                    <a:srgbClr val="158473"/>
                  </a:solidFill>
                </a:uFill>
                <a:latin typeface="Arial"/>
                <a:cs typeface="Arial"/>
                <a:hlinkClick r:id="rId4"/>
              </a:rPr>
              <a:t>2k23me006@kiot.ac.in</a:t>
            </a:r>
            <a:r>
              <a:rPr lang="en-US" sz="1200" b="1" spc="-5" dirty="0">
                <a:solidFill>
                  <a:srgbClr val="158473"/>
                </a:solidFill>
                <a:latin typeface="Arial"/>
                <a:cs typeface="Arial"/>
              </a:rPr>
              <a:t> </a:t>
            </a:r>
            <a:r>
              <a:rPr lang="en-US" sz="1200" b="1" dirty="0">
                <a:solidFill>
                  <a:srgbClr val="158473"/>
                </a:solidFill>
                <a:latin typeface="Arial"/>
                <a:cs typeface="Arial"/>
              </a:rPr>
              <a:t>|</a:t>
            </a:r>
            <a:r>
              <a:rPr lang="en-US" sz="1200" b="1" spc="75" dirty="0">
                <a:solidFill>
                  <a:srgbClr val="158473"/>
                </a:solidFill>
                <a:latin typeface="Arial"/>
                <a:cs typeface="Arial"/>
              </a:rPr>
              <a:t> </a:t>
            </a:r>
            <a:r>
              <a:rPr lang="en-US" sz="1200" b="1" u="sng" dirty="0">
                <a:solidFill>
                  <a:srgbClr val="158473"/>
                </a:solidFill>
                <a:uFill>
                  <a:solidFill>
                    <a:srgbClr val="158473"/>
                  </a:solidFill>
                </a:uFill>
                <a:latin typeface="Arial"/>
                <a:cs typeface="Arial"/>
                <a:hlinkClick r:id="rId3"/>
              </a:rPr>
              <a:t>2k23me003@kiot.ac.in</a:t>
            </a:r>
            <a:r>
              <a:rPr lang="en-US" sz="1200" b="1" spc="45" dirty="0">
                <a:solidFill>
                  <a:srgbClr val="158473"/>
                </a:solidFill>
                <a:latin typeface="Arial"/>
                <a:cs typeface="Arial"/>
              </a:rPr>
              <a:t> </a:t>
            </a:r>
            <a:r>
              <a:rPr lang="en-US" sz="1200" b="1" spc="-50" dirty="0">
                <a:solidFill>
                  <a:srgbClr val="158473"/>
                </a:solidFill>
                <a:latin typeface="Arial"/>
                <a:cs typeface="Arial"/>
              </a:rPr>
              <a:t>| </a:t>
            </a:r>
            <a:r>
              <a:rPr lang="en-US" sz="1200" b="1" u="sng" spc="-10" dirty="0">
                <a:solidFill>
                  <a:srgbClr val="158473"/>
                </a:solidFill>
                <a:uFill>
                  <a:solidFill>
                    <a:srgbClr val="158473"/>
                  </a:solidFill>
                </a:uFill>
                <a:latin typeface="Arial"/>
                <a:cs typeface="Arial"/>
                <a:hlinkClick r:id="rId5"/>
              </a:rPr>
              <a:t>2k23me020@kiot.ac.in</a:t>
            </a:r>
            <a:endParaRPr lang="en-US" sz="1200" dirty="0">
              <a:latin typeface="Arial"/>
              <a:cs typeface="Arial"/>
            </a:endParaRPr>
          </a:p>
          <a:p>
            <a:pPr marL="368935" indent="-178435">
              <a:lnSpc>
                <a:spcPct val="100000"/>
              </a:lnSpc>
              <a:spcBef>
                <a:spcPts val="720"/>
              </a:spcBef>
              <a:buClr>
                <a:srgbClr val="158473"/>
              </a:buClr>
              <a:buChar char="•"/>
              <a:tabLst>
                <a:tab pos="368935" algn="l"/>
              </a:tabLst>
            </a:pPr>
            <a:r>
              <a:rPr lang="en-US" sz="1200" dirty="0">
                <a:solidFill>
                  <a:srgbClr val="0D0D0D"/>
                </a:solidFill>
                <a:latin typeface="Arial MT"/>
                <a:cs typeface="Arial MT"/>
              </a:rPr>
              <a:t>College</a:t>
            </a:r>
            <a:r>
              <a:rPr lang="en-US" sz="1200" spc="-1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0D0D0D"/>
                </a:solidFill>
                <a:latin typeface="Arial MT"/>
                <a:cs typeface="Arial MT"/>
              </a:rPr>
              <a:t>website </a:t>
            </a:r>
            <a:r>
              <a:rPr lang="en-US" sz="1200" b="1" dirty="0">
                <a:solidFill>
                  <a:srgbClr val="158473"/>
                </a:solidFill>
                <a:latin typeface="Arial"/>
                <a:cs typeface="Arial"/>
              </a:rPr>
              <a:t>:</a:t>
            </a:r>
            <a:r>
              <a:rPr lang="en-US" sz="1200" b="1" spc="10" dirty="0">
                <a:solidFill>
                  <a:srgbClr val="158473"/>
                </a:solidFill>
                <a:latin typeface="Arial"/>
                <a:cs typeface="Arial"/>
              </a:rPr>
              <a:t> </a:t>
            </a:r>
            <a:r>
              <a:rPr lang="en-US" sz="1200" b="1" spc="-10" dirty="0">
                <a:solidFill>
                  <a:srgbClr val="158473"/>
                </a:solidFill>
                <a:latin typeface="Arial"/>
                <a:cs typeface="Arial"/>
                <a:hlinkClick r:id="rId6"/>
              </a:rPr>
              <a:t>www.kiot.ac.in</a:t>
            </a:r>
            <a:endParaRPr lang="en-US" sz="1200" dirty="0">
              <a:latin typeface="Arial"/>
              <a:cs typeface="Arial"/>
            </a:endParaRPr>
          </a:p>
          <a:p>
            <a:pPr marL="266700" indent="-266700" defTabSz="912813" eaLnBrk="0" hangingPunct="0">
              <a:spcBef>
                <a:spcPts val="1600"/>
              </a:spcBef>
            </a:pPr>
            <a:endParaRPr lang="en-GB"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6" name="Rectangle 19"/>
          <p:cNvSpPr>
            <a:spLocks noChangeArrowheads="1"/>
          </p:cNvSpPr>
          <p:nvPr/>
        </p:nvSpPr>
        <p:spPr bwMode="auto">
          <a:xfrm>
            <a:off x="1134168" y="25293115"/>
            <a:ext cx="3439346" cy="2446338"/>
          </a:xfrm>
          <a:prstGeom prst="rect">
            <a:avLst/>
          </a:prstGeom>
          <a:noFill/>
          <a:ln w="19050" cap="rnd">
            <a:solidFill>
              <a:schemeClr val="tx2"/>
            </a:solidFill>
            <a:prstDash val="sysDot"/>
            <a:miter lim="800000"/>
            <a:headEnd/>
            <a:tailEnd/>
          </a:ln>
        </p:spPr>
        <p:txBody>
          <a:bodyPr wrap="square" anchor="ctr"/>
          <a:lstStyle/>
          <a:p>
            <a:pPr algn="ctr"/>
            <a:r>
              <a:rPr lang="en-US" sz="1800">
                <a:solidFill>
                  <a:schemeClr val="tx2"/>
                </a:solidFill>
                <a:latin typeface="Arial" charset="0"/>
              </a:rPr>
              <a:t>[Insert QR Code]</a:t>
            </a:r>
          </a:p>
        </p:txBody>
      </p:sp>
      <p:sp>
        <p:nvSpPr>
          <p:cNvPr id="2057" name="Text Box 20"/>
          <p:cNvSpPr txBox="1">
            <a:spLocks noChangeArrowheads="1"/>
          </p:cNvSpPr>
          <p:nvPr/>
        </p:nvSpPr>
        <p:spPr bwMode="auto">
          <a:xfrm>
            <a:off x="6085682" y="25657224"/>
            <a:ext cx="3238500" cy="1508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7" rIns="91436" bIns="45717">
            <a:spAutoFit/>
          </a:bodyPr>
          <a:lstStyle/>
          <a:p>
            <a:r>
              <a:rPr lang="en-GB" sz="20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QR Code — Project Report (PDF) | Design Calculations | Demonstration Video</a:t>
            </a:r>
            <a:endParaRPr 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53AB2554-C850-4719-A3D9-8A7C5FE0E37B}"/>
              </a:ext>
            </a:extLst>
          </p:cNvPr>
          <p:cNvSpPr txBox="1">
            <a:spLocks/>
          </p:cNvSpPr>
          <p:nvPr/>
        </p:nvSpPr>
        <p:spPr bwMode="auto">
          <a:xfrm>
            <a:off x="10987088" y="5166841"/>
            <a:ext cx="9644062" cy="15060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60000" indent="-360000" algn="l" defTabSz="2952750" rtl="0" eaLnBrk="1" fontAlgn="base" hangingPunct="1">
              <a:lnSpc>
                <a:spcPct val="125000"/>
              </a:lnSpc>
              <a:spcBef>
                <a:spcPts val="1400"/>
              </a:spcBef>
              <a:spcAft>
                <a:spcPct val="0"/>
              </a:spcAft>
              <a:buClr>
                <a:schemeClr val="tx2"/>
              </a:buClr>
              <a:buChar char="•"/>
              <a:defRPr sz="19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20000" indent="-360000" algn="l" defTabSz="2952750" rtl="0" eaLnBrk="1" fontAlgn="base" hangingPunct="1">
              <a:lnSpc>
                <a:spcPct val="125000"/>
              </a:lnSpc>
              <a:spcBef>
                <a:spcPts val="1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 indent="-360000" algn="l" defTabSz="2952750" rtl="0" eaLnBrk="1" fontAlgn="base" hangingPunct="1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Rdg Vesta" pitchFamily="2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50000" indent="-270000" algn="l" defTabSz="2952750" rtl="0" eaLnBrk="1" fontAlgn="base" hangingPunct="1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30000" indent="-180000" algn="l" defTabSz="2952750" rtl="0" eaLnBrk="1" fontAlgn="base" hangingPunct="1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Clr>
                <a:schemeClr val="tx2"/>
              </a:buClr>
              <a:buFont typeface="Rdg Vesta" pitchFamily="2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3019425" indent="-738188" algn="l" defTabSz="2952750" rtl="0" eaLnBrk="1" fontAlgn="base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3476625" indent="-738188" algn="l" defTabSz="2952750" rtl="0" eaLnBrk="1" fontAlgn="base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933825" indent="-738188" algn="l" defTabSz="2952750" rtl="0" eaLnBrk="1" fontAlgn="base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4391025" indent="-738188" algn="l" defTabSz="2952750" rtl="0" eaLnBrk="1" fontAlgn="base" hangingPunct="1">
              <a:lnSpc>
                <a:spcPct val="125000"/>
              </a:lnSpc>
              <a:spcBef>
                <a:spcPct val="6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446088" indent="-446088">
              <a:spcBef>
                <a:spcPts val="2600"/>
              </a:spcBef>
              <a:buNone/>
            </a:pPr>
            <a:r>
              <a:rPr lang="en-GB" sz="2400" b="1">
                <a:solidFill>
                  <a:schemeClr val="tx2"/>
                </a:solidFill>
                <a:latin typeface="+mn-lt"/>
              </a:rPr>
              <a:t>Recorded Data (sample)</a:t>
            </a:r>
          </a:p>
          <a:p>
            <a:pPr marL="446088" indent="-446088">
              <a:spcBef>
                <a:spcPts val="2600"/>
              </a:spcBef>
              <a:buNone/>
            </a:pPr>
            <a:endParaRPr lang="en-GB" sz="2800" b="1">
              <a:solidFill>
                <a:schemeClr val="tx2"/>
              </a:solidFill>
            </a:endParaRPr>
          </a:p>
          <a:p>
            <a:pPr marL="446088" indent="-446088">
              <a:spcBef>
                <a:spcPts val="2600"/>
              </a:spcBef>
              <a:buNone/>
            </a:pPr>
            <a:endParaRPr lang="en-GB" sz="3000" b="1">
              <a:solidFill>
                <a:schemeClr val="tx2"/>
              </a:solidFill>
            </a:endParaRPr>
          </a:p>
          <a:p>
            <a:pPr marL="446088" indent="-446088">
              <a:spcBef>
                <a:spcPts val="2600"/>
              </a:spcBef>
              <a:buNone/>
            </a:pPr>
            <a:r>
              <a:rPr lang="en-GB" sz="2400" b="1" kern="12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pPr marL="446088" indent="-446088">
              <a:spcBef>
                <a:spcPts val="2600"/>
              </a:spcBef>
              <a:buNone/>
            </a:pPr>
            <a:endParaRPr lang="en-GB" sz="3000" b="1" kern="12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46088" indent="-446088">
              <a:spcBef>
                <a:spcPts val="2600"/>
              </a:spcBef>
              <a:buNone/>
            </a:pPr>
            <a:r>
              <a:rPr lang="en-GB" sz="3000" b="1" kern="12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446088" indent="-446088">
              <a:lnSpc>
                <a:spcPct val="100000"/>
              </a:lnSpc>
              <a:spcBef>
                <a:spcPts val="2600"/>
              </a:spcBef>
              <a:buNone/>
            </a:pPr>
            <a:r>
              <a:rPr lang="en-GB" sz="2400" b="1" kern="120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Performance Evaluation</a:t>
            </a:r>
          </a:p>
          <a:p>
            <a:pPr>
              <a:spcBef>
                <a:spcPts val="700"/>
              </a:spcBef>
            </a:pPr>
            <a:endParaRPr lang="en-GB" sz="1000"/>
          </a:p>
          <a:p>
            <a:pPr marL="446088" indent="-446088">
              <a:spcBef>
                <a:spcPts val="2600"/>
              </a:spcBef>
              <a:buNone/>
            </a:pPr>
            <a:endParaRPr lang="en-GB" sz="3000" b="1">
              <a:solidFill>
                <a:schemeClr val="tx2"/>
              </a:solidFill>
            </a:endParaRPr>
          </a:p>
          <a:p>
            <a:pPr marL="446088" indent="-446088">
              <a:spcBef>
                <a:spcPts val="2600"/>
              </a:spcBef>
              <a:buNone/>
            </a:pPr>
            <a:endParaRPr lang="en-GB" sz="3000" b="1">
              <a:solidFill>
                <a:schemeClr val="tx2"/>
              </a:solidFill>
            </a:endParaRPr>
          </a:p>
          <a:p>
            <a:pPr marL="446088" indent="-446088">
              <a:spcBef>
                <a:spcPts val="2600"/>
              </a:spcBef>
              <a:buNone/>
            </a:pPr>
            <a:r>
              <a:rPr lang="en-GB" sz="2400" b="1" kern="12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 Encountered</a:t>
            </a:r>
          </a:p>
          <a:p>
            <a:pPr marL="714375" indent="-357375">
              <a:spcBef>
                <a:spcPts val="600"/>
              </a:spcBef>
              <a:buFont typeface="Arial" pitchFamily="34" charset="0"/>
              <a:buChar char="•"/>
            </a:pPr>
            <a:r>
              <a:rPr lang="en-IN" sz="1200" b="1">
                <a:latin typeface="+mn-lt"/>
              </a:rPr>
              <a:t>Challenge</a:t>
            </a:r>
            <a:r>
              <a:rPr lang="en-IN" sz="1200">
                <a:latin typeface="+mn-lt"/>
              </a:rPr>
              <a:t>: A curved metal sheet alone does not guarantee focal accuracy; small fabrication errors shift the focal line. </a:t>
            </a:r>
            <a:br>
              <a:rPr lang="en-IN" sz="1200">
                <a:latin typeface="+mn-lt"/>
              </a:rPr>
            </a:br>
            <a:r>
              <a:rPr lang="en-IN" sz="1200" b="1">
                <a:latin typeface="+mn-lt"/>
              </a:rPr>
              <a:t>Solution</a:t>
            </a:r>
            <a:r>
              <a:rPr lang="en-IN" sz="1200">
                <a:latin typeface="+mn-lt"/>
              </a:rPr>
              <a:t>: Used a wooden template cut to the exact parabolic profile (x2 = 4fy) to guide metal-sheet forming and verify the </a:t>
            </a:r>
            <a:r>
              <a:rPr lang="en-IN" sz="1200" err="1">
                <a:latin typeface="+mn-lt"/>
              </a:rPr>
              <a:t>73 mm</a:t>
            </a:r>
            <a:r>
              <a:rPr lang="en-IN" sz="1200">
                <a:latin typeface="+mn-lt"/>
              </a:rPr>
              <a:t> focal position before fixing the copper pipe.</a:t>
            </a:r>
          </a:p>
          <a:p>
            <a:pPr marL="714375" indent="-357375">
              <a:spcBef>
                <a:spcPts val="600"/>
              </a:spcBef>
              <a:buFont typeface="Arial" pitchFamily="34" charset="0"/>
              <a:buChar char="•"/>
            </a:pPr>
            <a:r>
              <a:rPr lang="en-IN" sz="1200" b="1">
                <a:latin typeface="+mn-lt"/>
              </a:rPr>
              <a:t>Challenge</a:t>
            </a:r>
            <a:r>
              <a:rPr lang="en-IN" sz="1200">
                <a:latin typeface="+mn-lt"/>
              </a:rPr>
              <a:t>: Measuring water temperature reliably under changing outdoor solar conditions. </a:t>
            </a:r>
            <a:br>
              <a:rPr lang="en-IN" sz="1200">
                <a:latin typeface="+mn-lt"/>
              </a:rPr>
            </a:br>
            <a:r>
              <a:rPr lang="en-IN" sz="1200" b="1">
                <a:latin typeface="+mn-lt"/>
              </a:rPr>
              <a:t>Solution</a:t>
            </a:r>
            <a:r>
              <a:rPr lang="en-IN" sz="1200">
                <a:latin typeface="+mn-lt"/>
              </a:rPr>
              <a:t>: Recorded inlet/outlet readings at fixed time intervals across repeated trials at similar times of day for consistency.</a:t>
            </a:r>
            <a:endParaRPr lang="en-GB" sz="1000"/>
          </a:p>
          <a:p>
            <a:pPr marL="446088" indent="-446088">
              <a:spcBef>
                <a:spcPts val="2600"/>
              </a:spcBef>
              <a:buNone/>
            </a:pPr>
            <a:r>
              <a:rPr lang="en-GB" sz="2400" b="1" kern="12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Innovation / Novel Features</a:t>
            </a: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IN" sz="1200">
                <a:latin typeface="+mn-lt"/>
              </a:rPr>
              <a:t>A fully mechanical parabolic concentrator that heats water using only reflected sunlight — no sensors, controllers, pumps or electrical</a:t>
            </a:r>
          </a:p>
          <a:p>
            <a:pPr marL="358775" indent="-358775" algn="just">
              <a:spcBef>
                <a:spcPts val="600"/>
              </a:spcBef>
              <a:buNone/>
            </a:pPr>
            <a:r>
              <a:rPr lang="en-IN" sz="1200">
                <a:latin typeface="+mn-lt"/>
              </a:rPr>
              <a:t>heating elements — built entirely from low-cost wood, sheet metal, aluminium foil and copper pipe.</a:t>
            </a:r>
            <a:endParaRPr lang="en-GB" sz="1200">
              <a:latin typeface="+mn-lt"/>
            </a:endParaRPr>
          </a:p>
          <a:p>
            <a:pPr marL="446088" indent="-446088">
              <a:lnSpc>
                <a:spcPct val="100000"/>
              </a:lnSpc>
              <a:spcBef>
                <a:spcPts val="2600"/>
              </a:spcBef>
              <a:buNone/>
            </a:pPr>
            <a:r>
              <a:rPr lang="en-GB" sz="2400" b="1" kern="12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Applications</a:t>
            </a:r>
            <a:endParaRPr lang="en-GB" sz="3000" b="1" kern="12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14375" indent="-357375">
              <a:spcBef>
                <a:spcPts val="600"/>
              </a:spcBef>
              <a:buFont typeface="Arial" pitchFamily="34" charset="0"/>
              <a:buChar char="•"/>
            </a:pPr>
            <a:r>
              <a:rPr lang="en-IN" sz="1200">
                <a:latin typeface="+mn-lt"/>
              </a:rPr>
              <a:t>Domestic water preheating </a:t>
            </a:r>
          </a:p>
          <a:p>
            <a:pPr marL="714375" indent="-357375">
              <a:spcBef>
                <a:spcPts val="600"/>
              </a:spcBef>
              <a:buFont typeface="Arial" pitchFamily="34" charset="0"/>
              <a:buChar char="•"/>
            </a:pPr>
            <a:r>
              <a:rPr lang="en-IN" sz="1200">
                <a:latin typeface="+mn-lt"/>
              </a:rPr>
              <a:t>Rural and small-scale hot-water applications </a:t>
            </a:r>
          </a:p>
          <a:p>
            <a:pPr marL="714375" indent="-357375">
              <a:spcBef>
                <a:spcPts val="600"/>
              </a:spcBef>
              <a:buFont typeface="Arial" pitchFamily="34" charset="0"/>
              <a:buChar char="•"/>
            </a:pPr>
            <a:r>
              <a:rPr lang="en-IN" sz="1200">
                <a:latin typeface="+mn-lt"/>
              </a:rPr>
              <a:t>Educational and solar-thermal demonstration laboratories </a:t>
            </a:r>
          </a:p>
          <a:p>
            <a:pPr marL="714375" indent="-357375">
              <a:spcBef>
                <a:spcPts val="600"/>
              </a:spcBef>
              <a:buFont typeface="Arial" pitchFamily="34" charset="0"/>
              <a:buChar char="•"/>
            </a:pPr>
            <a:r>
              <a:rPr lang="en-IN" sz="1200">
                <a:latin typeface="+mn-lt"/>
              </a:rPr>
              <a:t>Small-scale agricultural and outdoor washing applications</a:t>
            </a:r>
            <a:endParaRPr lang="en-GB" sz="1200">
              <a:latin typeface="+mn-lt"/>
            </a:endParaRPr>
          </a:p>
          <a:p>
            <a:pPr marL="446088" indent="-446088">
              <a:lnSpc>
                <a:spcPct val="100000"/>
              </a:lnSpc>
              <a:spcBef>
                <a:spcPts val="2600"/>
              </a:spcBef>
              <a:buNone/>
            </a:pPr>
            <a:r>
              <a:rPr lang="en-GB" sz="2400" b="1" kern="12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Scope</a:t>
            </a:r>
          </a:p>
          <a:p>
            <a:pPr lvl="1">
              <a:spcBef>
                <a:spcPts val="600"/>
              </a:spcBef>
            </a:pPr>
            <a:r>
              <a:rPr lang="en-IN" sz="1200">
                <a:latin typeface="+mn-lt"/>
              </a:rPr>
              <a:t>Selective absorber coating on the copper pipe to reduce radiative losses </a:t>
            </a:r>
          </a:p>
          <a:p>
            <a:pPr lvl="1">
              <a:spcBef>
                <a:spcPts val="600"/>
              </a:spcBef>
            </a:pPr>
            <a:r>
              <a:rPr lang="en-IN" sz="1200">
                <a:latin typeface="+mn-lt"/>
              </a:rPr>
              <a:t>Larger aperture area and improved reflective material for higher heat gain </a:t>
            </a:r>
          </a:p>
          <a:p>
            <a:pPr lvl="1">
              <a:spcBef>
                <a:spcPts val="600"/>
              </a:spcBef>
            </a:pPr>
            <a:r>
              <a:rPr lang="en-IN" sz="1200">
                <a:latin typeface="+mn-lt"/>
              </a:rPr>
              <a:t>Manual or mechanical sun-tracking to maintain focal alignment through the day </a:t>
            </a:r>
          </a:p>
          <a:p>
            <a:pPr lvl="1">
              <a:spcBef>
                <a:spcPts val="600"/>
              </a:spcBef>
            </a:pPr>
            <a:r>
              <a:rPr lang="en-IN" sz="1200">
                <a:latin typeface="+mn-lt"/>
              </a:rPr>
              <a:t>Insulated storage tank and integration with domestic plumbing</a:t>
            </a:r>
            <a:endParaRPr lang="en-GB" sz="10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9187F-81E3-C195-D7F8-4EEE68B60F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758" y="18798447"/>
            <a:ext cx="4266565" cy="2857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D624D2E-0364-1F2B-8F0B-507C1877C7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8128973"/>
              </p:ext>
            </p:extLst>
          </p:nvPr>
        </p:nvGraphicFramePr>
        <p:xfrm>
          <a:off x="11091924" y="5809046"/>
          <a:ext cx="9434391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44797">
                  <a:extLst>
                    <a:ext uri="{9D8B030D-6E8A-4147-A177-3AD203B41FA5}">
                      <a16:colId xmlns:a16="http://schemas.microsoft.com/office/drawing/2014/main" val="461242801"/>
                    </a:ext>
                  </a:extLst>
                </a:gridCol>
                <a:gridCol w="3144797">
                  <a:extLst>
                    <a:ext uri="{9D8B030D-6E8A-4147-A177-3AD203B41FA5}">
                      <a16:colId xmlns:a16="http://schemas.microsoft.com/office/drawing/2014/main" val="3270429216"/>
                    </a:ext>
                  </a:extLst>
                </a:gridCol>
                <a:gridCol w="3144797">
                  <a:extLst>
                    <a:ext uri="{9D8B030D-6E8A-4147-A177-3AD203B41FA5}">
                      <a16:colId xmlns:a16="http://schemas.microsoft.com/office/drawing/2014/main" val="2397190397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r>
                        <a:rPr lang="en-US" sz="1200" b="1"/>
                        <a:t>Time</a:t>
                      </a:r>
                      <a:endParaRPr lang="en-IN" sz="1400" b="1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Inlet Temp (°C)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Outlet Temp (°C)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7737661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r>
                        <a:rPr lang="en-US" sz="1200"/>
                        <a:t>10:00 AM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28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32</a:t>
                      </a:r>
                      <a:endParaRPr lang="en-IN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642350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r>
                        <a:rPr lang="en-US" sz="1200"/>
                        <a:t>10:15 AM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28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34</a:t>
                      </a:r>
                      <a:endParaRPr lang="en-IN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4076289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r>
                        <a:rPr lang="en-US" sz="1200"/>
                        <a:t>10:30 AM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29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36</a:t>
                      </a:r>
                      <a:endParaRPr lang="en-IN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7099184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r>
                        <a:rPr lang="en-US" sz="1200"/>
                        <a:t>10:45 AM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29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38</a:t>
                      </a:r>
                      <a:endParaRPr lang="en-IN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231217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r>
                        <a:rPr lang="en-US" sz="1200"/>
                        <a:t>11:00 AM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30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41</a:t>
                      </a:r>
                      <a:endParaRPr lang="en-IN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85247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527AAEC-7A86-BDEC-617D-89DC7922D4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9838141"/>
              </p:ext>
            </p:extLst>
          </p:nvPr>
        </p:nvGraphicFramePr>
        <p:xfrm>
          <a:off x="11091923" y="8411631"/>
          <a:ext cx="9434392" cy="18474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0621">
                  <a:extLst>
                    <a:ext uri="{9D8B030D-6E8A-4147-A177-3AD203B41FA5}">
                      <a16:colId xmlns:a16="http://schemas.microsoft.com/office/drawing/2014/main" val="2483050442"/>
                    </a:ext>
                  </a:extLst>
                </a:gridCol>
                <a:gridCol w="6663771">
                  <a:extLst>
                    <a:ext uri="{9D8B030D-6E8A-4147-A177-3AD203B41FA5}">
                      <a16:colId xmlns:a16="http://schemas.microsoft.com/office/drawing/2014/main" val="2593327389"/>
                    </a:ext>
                  </a:extLst>
                </a:gridCol>
              </a:tblGrid>
              <a:tr h="255709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Module</a:t>
                      </a:r>
                      <a:endParaRPr lang="en-IN" sz="12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Result</a:t>
                      </a:r>
                      <a:endParaRPr lang="en-IN" sz="12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520456"/>
                  </a:ext>
                </a:extLst>
              </a:tr>
              <a:tr h="393273">
                <a:tc>
                  <a:txBody>
                    <a:bodyPr/>
                    <a:lstStyle/>
                    <a:p>
                      <a:r>
                        <a:rPr lang="en-IN" sz="1200"/>
                        <a:t>Prototype Fabrication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Parabolic wooden-frame reflector with aluminium-foil surface successfully built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562533"/>
                  </a:ext>
                </a:extLst>
              </a:tr>
              <a:tr h="393273">
                <a:tc>
                  <a:txBody>
                    <a:bodyPr/>
                    <a:lstStyle/>
                    <a:p>
                      <a:r>
                        <a:rPr lang="en-IN" sz="1200"/>
                        <a:t>Temperature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Inlet and outlet water temperature recorded manually across multiple trials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522783"/>
                  </a:ext>
                </a:extLst>
              </a:tr>
              <a:tr h="393273">
                <a:tc>
                  <a:txBody>
                    <a:bodyPr/>
                    <a:lstStyle/>
                    <a:p>
                      <a:r>
                        <a:rPr lang="en-IN" sz="1200"/>
                        <a:t>Heating Performance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Water temperature rose by up to 22°C over a 60-minute solar exposure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136857"/>
                  </a:ext>
                </a:extLst>
              </a:tr>
              <a:tr h="393273">
                <a:tc>
                  <a:txBody>
                    <a:bodyPr/>
                    <a:lstStyle/>
                    <a:p>
                      <a:r>
                        <a:rPr lang="en-IN" sz="1200"/>
                        <a:t>Reflector Alignment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Stable focal positioning confirmed by consistent ΔT across repeated trials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68391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08B3276-1264-740A-B392-9F3ABE3A57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691041"/>
              </p:ext>
            </p:extLst>
          </p:nvPr>
        </p:nvGraphicFramePr>
        <p:xfrm>
          <a:off x="11091923" y="10963523"/>
          <a:ext cx="9434392" cy="18474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17196">
                  <a:extLst>
                    <a:ext uri="{9D8B030D-6E8A-4147-A177-3AD203B41FA5}">
                      <a16:colId xmlns:a16="http://schemas.microsoft.com/office/drawing/2014/main" val="2166792968"/>
                    </a:ext>
                  </a:extLst>
                </a:gridCol>
                <a:gridCol w="4717196">
                  <a:extLst>
                    <a:ext uri="{9D8B030D-6E8A-4147-A177-3AD203B41FA5}">
                      <a16:colId xmlns:a16="http://schemas.microsoft.com/office/drawing/2014/main" val="3186563623"/>
                    </a:ext>
                  </a:extLst>
                </a:gridCol>
              </a:tblGrid>
              <a:tr h="307902">
                <a:tc>
                  <a:txBody>
                    <a:bodyPr/>
                    <a:lstStyle/>
                    <a:p>
                      <a:r>
                        <a:rPr lang="en-US" sz="1200" b="1"/>
                        <a:t>Metric </a:t>
                      </a:r>
                      <a:endParaRPr lang="en-IN" sz="1200" b="1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Outcomes</a:t>
                      </a:r>
                      <a:endParaRPr lang="en-IN" sz="1200" b="1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5981855"/>
                  </a:ext>
                </a:extLst>
              </a:tr>
              <a:tr h="307902">
                <a:tc>
                  <a:txBody>
                    <a:bodyPr/>
                    <a:lstStyle/>
                    <a:p>
                      <a:r>
                        <a:rPr lang="en-IN" sz="1200"/>
                        <a:t>Water Temperature Rise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Up to 22°C (60 min exposure)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362255"/>
                  </a:ext>
                </a:extLst>
              </a:tr>
              <a:tr h="307902">
                <a:tc>
                  <a:txBody>
                    <a:bodyPr/>
                    <a:lstStyle/>
                    <a:p>
                      <a:r>
                        <a:rPr lang="en-IN" sz="1200"/>
                        <a:t>Heating Method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Fully mechanical solar concentration, no electrical input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1758683"/>
                  </a:ext>
                </a:extLst>
              </a:tr>
              <a:tr h="307902">
                <a:tc>
                  <a:txBody>
                    <a:bodyPr/>
                    <a:lstStyle/>
                    <a:p>
                      <a:r>
                        <a:rPr lang="en-IN" sz="1200"/>
                        <a:t>Prototype Cost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Rs. 3,000 (materials)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080089"/>
                  </a:ext>
                </a:extLst>
              </a:tr>
              <a:tr h="307902">
                <a:tc>
                  <a:txBody>
                    <a:bodyPr/>
                    <a:lstStyle/>
                    <a:p>
                      <a:r>
                        <a:rPr lang="en-IN" sz="1200"/>
                        <a:t>Total Project Cost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Rs. 4,800 (materials + fabrication)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2843212"/>
                  </a:ext>
                </a:extLst>
              </a:tr>
              <a:tr h="307902">
                <a:tc>
                  <a:txBody>
                    <a:bodyPr/>
                    <a:lstStyle/>
                    <a:p>
                      <a:r>
                        <a:rPr lang="en-IN" sz="1200"/>
                        <a:t>System Stability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Consistent ΔT trend across repeated trials at similar times of day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30379"/>
                  </a:ext>
                </a:extLst>
              </a:tr>
            </a:tbl>
          </a:graphicData>
        </a:graphic>
      </p:graphicFrame>
      <p:sp>
        <p:nvSpPr>
          <p:cNvPr id="22" name="object 41">
            <a:extLst>
              <a:ext uri="{FF2B5EF4-FFF2-40B4-BE49-F238E27FC236}">
                <a16:creationId xmlns:a16="http://schemas.microsoft.com/office/drawing/2014/main" id="{DDE1FC1B-31FE-399D-B1BE-21F27F83C87D}"/>
              </a:ext>
            </a:extLst>
          </p:cNvPr>
          <p:cNvSpPr txBox="1"/>
          <p:nvPr/>
        </p:nvSpPr>
        <p:spPr>
          <a:xfrm>
            <a:off x="10982225" y="20252555"/>
            <a:ext cx="9644062" cy="1544461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509"/>
              </a:spcBef>
              <a:buClr>
                <a:srgbClr val="148473"/>
              </a:buClr>
              <a:tabLst>
                <a:tab pos="251460" algn="l"/>
              </a:tabLst>
            </a:pPr>
            <a:r>
              <a:rPr lang="en-US" sz="2400" b="1" dirty="0">
                <a:solidFill>
                  <a:srgbClr val="158473"/>
                </a:solidFill>
                <a:latin typeface="Arial"/>
                <a:cs typeface="Arial"/>
              </a:rPr>
              <a:t>Skills Acquired</a:t>
            </a:r>
          </a:p>
          <a:p>
            <a:pPr marL="708660" lvl="1" indent="-238760">
              <a:lnSpc>
                <a:spcPct val="150000"/>
              </a:lnSpc>
              <a:spcBef>
                <a:spcPts val="509"/>
              </a:spcBef>
              <a:buClr>
                <a:srgbClr val="148473"/>
              </a:buClr>
              <a:buFont typeface="Arial MT"/>
              <a:buChar char="•"/>
              <a:tabLst>
                <a:tab pos="251460" algn="l"/>
              </a:tabLst>
            </a:pPr>
            <a:r>
              <a:rPr sz="1200" b="1" dirty="0">
                <a:latin typeface="Arial"/>
                <a:cs typeface="Arial"/>
              </a:rPr>
              <a:t>Technical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Skill:</a:t>
            </a:r>
            <a:r>
              <a:rPr lang="en-US" sz="1200" b="1" dirty="0">
                <a:latin typeface="Arial"/>
                <a:cs typeface="Arial"/>
              </a:rPr>
              <a:t> </a:t>
            </a:r>
            <a:r>
              <a:rPr lang="en-US" sz="1200" dirty="0">
                <a:latin typeface="+mn-lt"/>
                <a:cs typeface="Arial"/>
              </a:rPr>
              <a:t>3D CAD modeling, parabolic reflector geometry design, heat-transfer and thermal-efficiency calculations, workshop fabrication (wood &amp; sheet metal)</a:t>
            </a:r>
          </a:p>
          <a:p>
            <a:pPr marL="708660" lvl="1" indent="-238760">
              <a:lnSpc>
                <a:spcPct val="150000"/>
              </a:lnSpc>
              <a:spcBef>
                <a:spcPts val="509"/>
              </a:spcBef>
              <a:buClr>
                <a:srgbClr val="148473"/>
              </a:buClr>
              <a:buFont typeface="Arial MT"/>
              <a:buChar char="•"/>
              <a:tabLst>
                <a:tab pos="251460" algn="l"/>
              </a:tabLst>
            </a:pPr>
            <a:r>
              <a:rPr lang="en-US" sz="1200" b="1" dirty="0">
                <a:latin typeface="Arial"/>
                <a:cs typeface="Arial"/>
              </a:rPr>
              <a:t>Soft</a:t>
            </a:r>
            <a:r>
              <a:rPr lang="en-US" sz="1200" b="1" spc="5" dirty="0">
                <a:latin typeface="Arial"/>
                <a:cs typeface="Arial"/>
              </a:rPr>
              <a:t> </a:t>
            </a:r>
            <a:r>
              <a:rPr lang="en-US" sz="1200" b="1" dirty="0">
                <a:latin typeface="Arial"/>
                <a:cs typeface="Arial"/>
              </a:rPr>
              <a:t>Skill:</a:t>
            </a:r>
            <a:r>
              <a:rPr lang="en-US" sz="1200" b="1" spc="5" dirty="0">
                <a:latin typeface="Arial"/>
                <a:cs typeface="Arial"/>
              </a:rPr>
              <a:t> </a:t>
            </a:r>
            <a:r>
              <a:rPr lang="en-US" sz="1200" dirty="0">
                <a:latin typeface="Arial (Body)"/>
              </a:rPr>
              <a:t>Teamwork, field research, technical documentation, project management.</a:t>
            </a:r>
            <a:endParaRPr lang="en-US" sz="1200" dirty="0">
              <a:latin typeface="Arial MT"/>
              <a:cs typeface="Arial MT"/>
            </a:endParaRPr>
          </a:p>
        </p:txBody>
      </p:sp>
      <p:sp>
        <p:nvSpPr>
          <p:cNvPr id="24" name="object 37">
            <a:extLst>
              <a:ext uri="{FF2B5EF4-FFF2-40B4-BE49-F238E27FC236}">
                <a16:creationId xmlns:a16="http://schemas.microsoft.com/office/drawing/2014/main" id="{007B4FAB-2311-8523-BD17-B6430B35EF7A}"/>
              </a:ext>
            </a:extLst>
          </p:cNvPr>
          <p:cNvSpPr txBox="1"/>
          <p:nvPr/>
        </p:nvSpPr>
        <p:spPr>
          <a:xfrm>
            <a:off x="10986701" y="22084896"/>
            <a:ext cx="9639586" cy="111998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400" b="1">
                <a:solidFill>
                  <a:srgbClr val="148473"/>
                </a:solidFill>
                <a:latin typeface="Arial"/>
                <a:cs typeface="Arial"/>
              </a:rPr>
              <a:t>Project</a:t>
            </a:r>
            <a:r>
              <a:rPr sz="2400" b="1" spc="-50">
                <a:solidFill>
                  <a:srgbClr val="148473"/>
                </a:solidFill>
                <a:latin typeface="Arial"/>
                <a:cs typeface="Arial"/>
              </a:rPr>
              <a:t> </a:t>
            </a:r>
            <a:r>
              <a:rPr lang="en-US" sz="2400" b="1" spc="-10">
                <a:solidFill>
                  <a:srgbClr val="148473"/>
                </a:solidFill>
                <a:latin typeface="Arial"/>
                <a:cs typeface="Arial"/>
              </a:rPr>
              <a:t>Outcom</a:t>
            </a:r>
            <a:r>
              <a:rPr sz="2400" b="1" spc="-10">
                <a:solidFill>
                  <a:srgbClr val="148473"/>
                </a:solidFill>
                <a:latin typeface="Arial"/>
                <a:cs typeface="Arial"/>
              </a:rPr>
              <a:t>es</a:t>
            </a:r>
            <a:endParaRPr sz="2400">
              <a:latin typeface="Arial"/>
              <a:cs typeface="Arial"/>
            </a:endParaRPr>
          </a:p>
          <a:p>
            <a:pPr marL="12700" marR="5080" algn="just">
              <a:lnSpc>
                <a:spcPct val="126499"/>
              </a:lnSpc>
              <a:spcBef>
                <a:spcPts val="490"/>
              </a:spcBef>
            </a:pPr>
            <a:r>
              <a:rPr lang="en-IN" sz="1200">
                <a:latin typeface="+mn-lt"/>
              </a:rPr>
              <a:t>A working parabolic solar water heater was fabricated and experimentally validated, achieving a water temperature rise of up to 22°C using only concentrated sunlight, confirming the feasibility of a simple mechanical solar concentrator for low-cost, renewable domestic water heating.</a:t>
            </a:r>
            <a:endParaRPr sz="1200">
              <a:latin typeface="+mn-lt"/>
              <a:cs typeface="Arial M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3FC8A4-D4EF-94DE-60E4-E1956C38AAF2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244"/>
          <a:stretch>
            <a:fillRect/>
          </a:stretch>
        </p:blipFill>
        <p:spPr bwMode="auto">
          <a:xfrm>
            <a:off x="1549326" y="14788626"/>
            <a:ext cx="6048375" cy="305371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99AB6CE-6821-272D-1D50-A92576987C74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06" t="21895" r="10547" b="9008"/>
          <a:stretch>
            <a:fillRect/>
          </a:stretch>
        </p:blipFill>
        <p:spPr bwMode="auto">
          <a:xfrm>
            <a:off x="6590515" y="18642271"/>
            <a:ext cx="3067089" cy="351723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EB8D26B8-B732-638F-40EA-B1CDF745C8DE}"/>
              </a:ext>
            </a:extLst>
          </p:cNvPr>
          <p:cNvSpPr/>
          <p:nvPr/>
        </p:nvSpPr>
        <p:spPr bwMode="auto">
          <a:xfrm>
            <a:off x="5127585" y="20227197"/>
            <a:ext cx="958097" cy="329441"/>
          </a:xfrm>
          <a:prstGeom prst="rightArrow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29527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Rdg Vest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423776"/>
      </p:ext>
    </p:extLst>
  </p:cSld>
  <p:clrMapOvr>
    <a:masterClrMapping/>
  </p:clrMapOvr>
</p:sld>
</file>

<file path=ppt/theme/theme1.xml><?xml version="1.0" encoding="utf-8"?>
<a:theme xmlns:a="http://schemas.openxmlformats.org/drawingml/2006/main" name="KIOT #CE4F2F">
  <a:themeElements>
    <a:clrScheme name="01 KIOT Conference #178473">
      <a:dk1>
        <a:srgbClr val="000000"/>
      </a:dk1>
      <a:lt1>
        <a:srgbClr val="FFFFFF"/>
      </a:lt1>
      <a:dk2>
        <a:srgbClr val="158473"/>
      </a:dk2>
      <a:lt2>
        <a:srgbClr val="808080"/>
      </a:lt2>
      <a:accent1>
        <a:srgbClr val="7AFDE9"/>
      </a:accent1>
      <a:accent2>
        <a:srgbClr val="5BD1BF"/>
      </a:accent2>
      <a:accent3>
        <a:srgbClr val="FFFFFF"/>
      </a:accent3>
      <a:accent4>
        <a:srgbClr val="086154"/>
      </a:accent4>
      <a:accent5>
        <a:srgbClr val="5BD1BF"/>
      </a:accent5>
      <a:accent6>
        <a:srgbClr val="000000"/>
      </a:accent6>
      <a:hlink>
        <a:srgbClr val="158473"/>
      </a:hlink>
      <a:folHlink>
        <a:srgbClr val="08615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29527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29527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lIns="0" tIns="0" rIns="0" bIns="0"/>
      <a:lstStyle>
        <a:defPPr marL="455613" indent="-455613" algn="l" defTabSz="2952750" eaLnBrk="0" hangingPunct="0">
          <a:lnSpc>
            <a:spcPct val="105000"/>
          </a:lnSpc>
          <a:spcBef>
            <a:spcPts val="4400"/>
          </a:spcBef>
          <a:spcAft>
            <a:spcPts val="0"/>
          </a:spcAft>
          <a:buClr>
            <a:schemeClr val="tx2"/>
          </a:buClr>
          <a:defRPr sz="4100" b="1" kern="0" dirty="0">
            <a:solidFill>
              <a:schemeClr val="tx2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27825 KIOT Conference 2022 portrait HT v2.pptx" id="{F18A0F39-BBEB-43DB-BFD6-81A744C52318}" vid="{8D687D27-B946-4FBA-8150-9F172FBFD3DC}"/>
    </a:ext>
  </a:extLst>
</a:theme>
</file>

<file path=ppt/theme/theme2.xml><?xml version="1.0" encoding="utf-8"?>
<a:theme xmlns:a="http://schemas.openxmlformats.org/drawingml/2006/main" name="KIOT #C74486">
  <a:themeElements>
    <a:clrScheme name="03 KIOT Conference #C74486">
      <a:dk1>
        <a:srgbClr val="000000"/>
      </a:dk1>
      <a:lt1>
        <a:srgbClr val="FFFFFF"/>
      </a:lt1>
      <a:dk2>
        <a:srgbClr val="C74486"/>
      </a:dk2>
      <a:lt2>
        <a:srgbClr val="808080"/>
      </a:lt2>
      <a:accent1>
        <a:srgbClr val="FCAAD3"/>
      </a:accent1>
      <a:accent2>
        <a:srgbClr val="DB8EB5"/>
      </a:accent2>
      <a:accent3>
        <a:srgbClr val="FFFFFF"/>
      </a:accent3>
      <a:accent4>
        <a:srgbClr val="810443"/>
      </a:accent4>
      <a:accent5>
        <a:srgbClr val="DB8EB5"/>
      </a:accent5>
      <a:accent6>
        <a:srgbClr val="000000"/>
      </a:accent6>
      <a:hlink>
        <a:srgbClr val="C74486"/>
      </a:hlink>
      <a:folHlink>
        <a:srgbClr val="81044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29527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29527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B27825 KIOT Conference 2022 portrait HT v2.pptx" id="{F18A0F39-BBEB-43DB-BFD6-81A744C52318}" vid="{EDDCA094-D80C-4D1A-9F56-52CCF7C6B5E1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KIOT_PBL_Poster_Template</Template>
  <TotalTime>17</TotalTime>
  <Words>1228</Words>
  <Application>Microsoft Office PowerPoint</Application>
  <PresentationFormat>Custom</PresentationFormat>
  <Paragraphs>141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(Body)</vt:lpstr>
      <vt:lpstr>Arial MT</vt:lpstr>
      <vt:lpstr>Calibri</vt:lpstr>
      <vt:lpstr>Rdg Vesta</vt:lpstr>
      <vt:lpstr>KIOT #CE4F2F</vt:lpstr>
      <vt:lpstr>KIOT #C74486</vt:lpstr>
      <vt:lpstr>DESIGN AND FABRICATION OF A PARABOLIC SOLAR WATER HEATER USING COPPER PIPE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Research and conference poster</dc:subject>
  <dc:creator>Shanmugam sivaraman</dc:creator>
  <cp:lastModifiedBy>AMBIKA B</cp:lastModifiedBy>
  <cp:revision>3</cp:revision>
  <dcterms:created xsi:type="dcterms:W3CDTF">2026-07-26T14:23:05Z</dcterms:created>
  <dcterms:modified xsi:type="dcterms:W3CDTF">2026-09-11T04:55:14Z</dcterms:modified>
</cp:coreProperties>
</file>